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CA685-46BE-0E34-DE94-695806199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F9151-2685-86FB-A49C-AFE55852F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13D23-71EE-A23A-5373-45565AC1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D3436-D242-3EDD-55B8-FB05B5FB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5EABB-D087-D341-E19D-400C9D69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68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80AD-5FA7-CF73-CC80-5BCDE282A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257E2-C746-6B00-7362-855C438C4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B4890-3AD6-EB9E-4E19-DBE4BD3C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E2A5F-53E0-E41E-5EF9-A0C8B60BA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BCA07-C744-82AC-18EF-6E900B81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174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F8EA-3319-9BE6-0866-A69E2CFF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DB09F-D323-29B8-BD52-6E9510E01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B1FF8-4288-F6BA-41FD-D17D6BE05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036DC-67C1-DED3-8637-074F3645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B52FC-97B0-9402-D951-4CB38E36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10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8CC9-1507-E804-8940-A35F279E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FB83E-3E75-629D-7BFE-C5DDE6013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553AE-4685-CC4B-BC6C-104534B9B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DAE5F-DC02-99B0-4280-3D2DB1DB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543B1-3ED0-E8C4-E93E-06AE3F61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3E225-C97E-AA97-4F45-1460E830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83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CEF1-47E9-86DC-E1E3-C60DAFF8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938B3-A93C-4D9E-DDA4-263A97F0E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FA20-4EE3-EB07-2F1A-ED90CCCBA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765F3-475F-0D2B-BCA7-0E61921E7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F1602-8D2E-B697-6FBC-144D6A0ED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FE4069-7583-09B2-98D7-37377047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E3E89-4A24-67B1-1338-C9E0B0E4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1262C7-138F-B03E-A147-9D41DE54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82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EF79-E600-6D72-ED3B-C6DB41D5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E680E-5C1B-C5F6-EE3C-B3067099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492A4-A5CF-EA63-AEB8-2A5554C8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71B42-2F70-B253-DA9F-FD8C4F96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68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B3C14D-C1EC-1B7E-B111-47D15B9A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DAE73-CA17-4D4F-5FB4-99A0ABD9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C6D6A-9F9B-BDB6-7014-A0C0C06F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89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183A-627C-C7AC-0B10-F82E7AB1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EAEE-979D-FBE5-BF72-069AD7F6B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816AD-56EB-BC11-01EF-362B95B34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AD45C-1667-11CF-9DF5-039DBCDC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B5F29-CB27-38EC-6657-6EBC70EF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D8A86-04BF-7BB6-0096-C3A3C119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077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D28D-2801-C14D-CD4B-63D64CD67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B20812-D9F1-D8A8-6074-A12732B19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DC6B4-1B1C-3095-DAA0-710BDBBFE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B7900-4A70-2DCB-DE7E-12CAFDFC3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01570-DE3D-B390-1E27-F6E45B82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4CB39-D384-1974-C33D-CD673546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17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E21CC-D180-BEA2-4F59-C9FB9A17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795B2-7461-F0C2-EE2D-B754E7944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912D9-BA68-E02D-803C-ED2CBBCEA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F779-C8D2-67C1-674B-84A00F21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949DD-8FBE-34B9-0767-13290446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0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DB3A0F-7777-E132-F92C-D4D31916E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19B36-9F55-23A2-95E1-31658734E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E3F8-5F6D-C116-A60B-60ABC69E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E56C6-6743-3CDD-71F0-A02E0011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F5586-6100-78C9-9F05-28844EBD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83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0FAA6-454C-A8B1-0911-011963D82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10D2A-549F-6ABD-006A-642E4425B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95387-BD76-1C3B-4669-F986110C1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EFAFB-107A-4B2E-BAB4-5DD0D91A23D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0F77C-CF15-B213-20DA-B2FC9C3CE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FBABD-1FE9-7333-BACF-EA5C0BFF5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90D18-2C79-44E2-B48C-253E35806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4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9590-D5C7-5BDC-65D0-F20501E94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184" y="226251"/>
            <a:ext cx="10143744" cy="804760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dirty="0"/>
              <a:t>Multi-Environment Setup &amp; SageMaker Pipeline Migration Status</a:t>
            </a:r>
            <a:endParaRPr lang="en-IN" sz="3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927A73-FB83-FB01-6BD2-B011BDF10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279186"/>
              </p:ext>
            </p:extLst>
          </p:nvPr>
        </p:nvGraphicFramePr>
        <p:xfrm>
          <a:off x="779272" y="1275594"/>
          <a:ext cx="10074656" cy="4758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3677458996"/>
                    </a:ext>
                  </a:extLst>
                </a:gridCol>
                <a:gridCol w="7351776">
                  <a:extLst>
                    <a:ext uri="{9D8B030D-6E8A-4147-A177-3AD203B41FA5}">
                      <a16:colId xmlns:a16="http://schemas.microsoft.com/office/drawing/2014/main" val="3326302558"/>
                    </a:ext>
                  </a:extLst>
                </a:gridCol>
              </a:tblGrid>
              <a:tr h="280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Capability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Details</a:t>
                      </a:r>
                      <a:endParaRPr lang="en-I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8092098"/>
                  </a:ext>
                </a:extLst>
              </a:tr>
              <a:tr h="702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Current Status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Multi-environment AWS setup (</a:t>
                      </a:r>
                      <a:r>
                        <a:rPr lang="en-US" sz="1600" b="1" dirty="0"/>
                        <a:t>Dev, UAT, Prod</a:t>
                      </a:r>
                      <a:r>
                        <a:rPr lang="en-US" sz="1600" dirty="0"/>
                        <a:t>) is fully established and operational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01946"/>
                  </a:ext>
                </a:extLst>
              </a:tr>
              <a:tr h="702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CI/CD Implementation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All deployments are automated via </a:t>
                      </a:r>
                      <a:r>
                        <a:rPr lang="en-US" sz="1600" b="1" dirty="0"/>
                        <a:t>GitHub Actions CI/CD pipelines</a:t>
                      </a:r>
                      <a:r>
                        <a:rPr lang="en-US" sz="1600" dirty="0"/>
                        <a:t> (build → test → deploy)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671741"/>
                  </a:ext>
                </a:extLst>
              </a:tr>
              <a:tr h="702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Testing &amp; Quality Gates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Integrated </a:t>
                      </a:r>
                      <a:r>
                        <a:rPr lang="en-US" sz="1600" b="1" dirty="0"/>
                        <a:t>Unit Tests &amp; Integration Tests as CI checks, </a:t>
                      </a:r>
                      <a:r>
                        <a:rPr lang="en-US" sz="1600" b="0" dirty="0"/>
                        <a:t>enforced before code merge to ensure code quality.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475129"/>
                  </a:ext>
                </a:extLst>
              </a:tr>
              <a:tr h="702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Approval Workflow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TechLink approval</a:t>
                      </a:r>
                      <a:r>
                        <a:rPr lang="en-US" sz="1600" dirty="0"/>
                        <a:t> implemented for controlled deployments to </a:t>
                      </a:r>
                      <a:r>
                        <a:rPr lang="en-US" sz="1600" b="1" dirty="0"/>
                        <a:t>UAT and Prod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553990"/>
                  </a:ext>
                </a:extLst>
              </a:tr>
              <a:tr h="702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SageMaker Migration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Successfully migrated </a:t>
                      </a:r>
                      <a:r>
                        <a:rPr lang="en-US" sz="1600" b="1" dirty="0"/>
                        <a:t>all 7 SageMaker pipelines(AI,ML,DS)</a:t>
                      </a:r>
                      <a:r>
                        <a:rPr lang="en-US" sz="1600" dirty="0"/>
                        <a:t> from </a:t>
                      </a:r>
                      <a:r>
                        <a:rPr lang="en-US" sz="1600" b="1" dirty="0"/>
                        <a:t>RSH</a:t>
                      </a:r>
                      <a:r>
                        <a:rPr lang="en-US" sz="1600" dirty="0"/>
                        <a:t> account to </a:t>
                      </a:r>
                      <a:r>
                        <a:rPr lang="en-US" sz="1600" b="1" dirty="0"/>
                        <a:t>environment-specific AWS accounts (Dev, UAT and PRD)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2507394"/>
                  </a:ext>
                </a:extLst>
              </a:tr>
              <a:tr h="912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Deployment Model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Pipelines are now deployed independently across </a:t>
                      </a:r>
                      <a:r>
                        <a:rPr lang="en-US" sz="1600" b="1" dirty="0"/>
                        <a:t>Dev → UAT → PRD</a:t>
                      </a:r>
                      <a:r>
                        <a:rPr lang="en-US" sz="1600" dirty="0"/>
                        <a:t> with environment-specific configurations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825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69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3FA7-CFF0-44C6-4F19-1C355A74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82CB-7E64-EE87-4A38-A485F92B3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184" y="271971"/>
            <a:ext cx="9144000" cy="804760"/>
          </a:xfrm>
        </p:spPr>
        <p:txBody>
          <a:bodyPr>
            <a:normAutofit/>
          </a:bodyPr>
          <a:lstStyle/>
          <a:p>
            <a:pPr algn="l"/>
            <a:r>
              <a:rPr lang="en-IN" sz="3200" dirty="0"/>
              <a:t>Multi-Environment Architecture</a:t>
            </a:r>
            <a:endParaRPr lang="en-IN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0E25A-C687-1978-AE3B-FB4D0C945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480" y="4461574"/>
            <a:ext cx="5205984" cy="1948370"/>
          </a:xfrm>
        </p:spPr>
        <p:txBody>
          <a:bodyPr>
            <a:normAutofit/>
          </a:bodyPr>
          <a:lstStyle/>
          <a:p>
            <a:pPr algn="l"/>
            <a:r>
              <a:rPr lang="en-IN" sz="1600" b="1" dirty="0"/>
              <a:t>Highlights:</a:t>
            </a:r>
            <a:endParaRPr lang="en-IN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1" dirty="0"/>
              <a:t>AWS multi-account setup</a:t>
            </a:r>
            <a:r>
              <a:rPr lang="en-IN" sz="1600" dirty="0"/>
              <a:t> (RSH / Dev / UAT / Prod)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dirty="0"/>
              <a:t>CI/CD pipeline handles </a:t>
            </a:r>
            <a:r>
              <a:rPr lang="en-IN" sz="1600" b="1" dirty="0"/>
              <a:t>build, test, deploy &amp; promotion</a:t>
            </a:r>
            <a:endParaRPr lang="en-IN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600" b="1" dirty="0"/>
              <a:t>IAM-based secure deployments</a:t>
            </a:r>
            <a:r>
              <a:rPr lang="en-IN" sz="1600" dirty="0"/>
              <a:t> per environment</a:t>
            </a:r>
          </a:p>
        </p:txBody>
      </p:sp>
    </p:spTree>
    <p:extLst>
      <p:ext uri="{BB962C8B-B14F-4D97-AF65-F5344CB8AC3E}">
        <p14:creationId xmlns:p14="http://schemas.microsoft.com/office/powerpoint/2010/main" val="136673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FE2C7-5AA1-8A5E-70B8-5DDF9766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31A9A-AE8F-D574-7490-82C064221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88" y="345123"/>
            <a:ext cx="9144000" cy="804760"/>
          </a:xfrm>
        </p:spPr>
        <p:txBody>
          <a:bodyPr>
            <a:normAutofit/>
          </a:bodyPr>
          <a:lstStyle/>
          <a:p>
            <a:pPr algn="l"/>
            <a:r>
              <a:rPr lang="en-IN" sz="3200" dirty="0"/>
              <a:t>Outcome &amp; Benefits</a:t>
            </a:r>
            <a:endParaRPr lang="en-IN" sz="3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8BF6CE-200C-F222-A321-F9F352691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941400"/>
              </p:ext>
            </p:extLst>
          </p:nvPr>
        </p:nvGraphicFramePr>
        <p:xfrm>
          <a:off x="710184" y="1524338"/>
          <a:ext cx="10614152" cy="3559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6616">
                  <a:extLst>
                    <a:ext uri="{9D8B030D-6E8A-4147-A177-3AD203B41FA5}">
                      <a16:colId xmlns:a16="http://schemas.microsoft.com/office/drawing/2014/main" val="2812890575"/>
                    </a:ext>
                  </a:extLst>
                </a:gridCol>
                <a:gridCol w="7717536">
                  <a:extLst>
                    <a:ext uri="{9D8B030D-6E8A-4147-A177-3AD203B41FA5}">
                      <a16:colId xmlns:a16="http://schemas.microsoft.com/office/drawing/2014/main" val="648660649"/>
                    </a:ext>
                  </a:extLst>
                </a:gridCol>
              </a:tblGrid>
              <a:tr h="5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Outcome Area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Impact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732909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Environment Isolation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Strong separation using </a:t>
                      </a:r>
                      <a:r>
                        <a:rPr lang="en-US" b="1"/>
                        <a:t>AWS multi-account architecture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283373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Security &amp; Governance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Improved via </a:t>
                      </a:r>
                      <a:r>
                        <a:rPr lang="en-US" b="1"/>
                        <a:t>account-level segregation &amp; controlled approvals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332291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Deployment Reliability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Standardized &amp; repeatable deployments</a:t>
                      </a:r>
                      <a:r>
                        <a:rPr lang="en-IN"/>
                        <a:t> via CI/CD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415300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Risk Reduction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risk due to </a:t>
                      </a:r>
                      <a:r>
                        <a:rPr lang="en-US" b="1"/>
                        <a:t>automated testing + staged promotion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27082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Scalability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Platform is now </a:t>
                      </a:r>
                      <a:r>
                        <a:rPr lang="en-US" b="1" dirty="0"/>
                        <a:t>ready to scale across multiple ML/AI/DS use cases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8494171"/>
                  </a:ext>
                </a:extLst>
              </a:tr>
              <a:tr h="508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Operational Efficiency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Reduced manual effort and improved </a:t>
                      </a:r>
                      <a:r>
                        <a:rPr lang="en-US" b="1" dirty="0"/>
                        <a:t>team productivity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422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4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6897-576E-8A7C-2B4D-84E81F6D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9B48-65F3-17ED-BFAB-733472FA2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184" y="601155"/>
            <a:ext cx="9144000" cy="804760"/>
          </a:xfrm>
        </p:spPr>
        <p:txBody>
          <a:bodyPr>
            <a:normAutofit/>
          </a:bodyPr>
          <a:lstStyle/>
          <a:p>
            <a:pPr algn="l"/>
            <a:r>
              <a:rPr lang="en-IN" sz="3200" dirty="0"/>
              <a:t>Overall Impact</a:t>
            </a:r>
            <a:endParaRPr lang="en-IN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C510F9-3EC2-B481-547E-06A9A60B69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10184" y="1772767"/>
            <a:ext cx="65902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ML CI/CD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MLOps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risk with testing + automation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production-ready multi-account architecture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productivity &amp; collaboration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258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Multi-Environment Setup &amp; SageMaker Pipeline Migration Status</vt:lpstr>
      <vt:lpstr>Multi-Environment Architecture</vt:lpstr>
      <vt:lpstr>Outcome &amp; Benefits</vt:lpstr>
      <vt:lpstr>Overall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Kuldeep Singh1</dc:creator>
  <cp:lastModifiedBy>Kuldeep Singh1</cp:lastModifiedBy>
  <cp:revision>3</cp:revision>
  <dcterms:created xsi:type="dcterms:W3CDTF">2026-03-17T13:33:55Z</dcterms:created>
  <dcterms:modified xsi:type="dcterms:W3CDTF">2026-03-18T09:05:37Z</dcterms:modified>
</cp:coreProperties>
</file>
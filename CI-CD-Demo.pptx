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8" r:id="rId3"/>
    <p:sldId id="257" r:id="rId4"/>
    <p:sldId id="259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80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720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ACA685-46BE-0E34-DE94-69580619984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B2F9151-2685-86FB-A49C-AFE55852F04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7513D23-71EE-A23A-5373-45565AC1E4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1EFAFB-107A-4B2E-BAB4-5DD0D91A23D2}" type="datetimeFigureOut">
              <a:rPr lang="en-IN" smtClean="0"/>
              <a:t>17-03-2026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87D3436-D242-3EDD-55B8-FB05B5FB66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285EABB-D087-D341-E19D-400C9D6934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A90D18-2C79-44E2-B48C-253E3580685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91768074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0A80AD-5FA7-CF73-CC80-5BCDE282A8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E257E2-C746-6B00-7362-855C438C465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83B4890-3AD6-EB9E-4E19-DBE4BD3C32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1EFAFB-107A-4B2E-BAB4-5DD0D91A23D2}" type="datetimeFigureOut">
              <a:rPr lang="en-IN" smtClean="0"/>
              <a:t>17-03-2026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86E2A5F-53E0-E41E-5EF9-A0C8B60BA3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F2BCA07-C744-82AC-18EF-6E900B8164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A90D18-2C79-44E2-B48C-253E3580685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7691741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77F8EA-3319-9BE6-0866-A69E2CFF33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7DDB09F-D323-29B8-BD52-6E9510E01EB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EBB1FF8-4288-F6BA-41FD-D17D6BE05F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1EFAFB-107A-4B2E-BAB4-5DD0D91A23D2}" type="datetimeFigureOut">
              <a:rPr lang="en-IN" smtClean="0"/>
              <a:t>17-03-2026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E2036DC-67C1-DED3-8637-074F3645A7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EDB52FC-97B0-9402-D951-4CB38E3671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A90D18-2C79-44E2-B48C-253E3580685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1221033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5D8CC9-1507-E804-8940-A35F279E4C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7FB83E-3E75-629D-7BFE-C5DDE6013B3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5E553AE-4685-CC4B-BC6C-104534B9BEF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6FDAE5F-DC02-99B0-4280-3D2DB1DBAC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1EFAFB-107A-4B2E-BAB4-5DD0D91A23D2}" type="datetimeFigureOut">
              <a:rPr lang="en-IN" smtClean="0"/>
              <a:t>17-03-2026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2E543B1-3ED0-E8C4-E93E-06AE3F618C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423E225-C97E-AA97-4F45-1460E83088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A90D18-2C79-44E2-B48C-253E3580685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0778345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52CEF1-47E9-86DC-E1E3-C60DAFF840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FF938B3-A93C-4D9E-DDA4-263A97F0EB0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781FA20-4EE3-EB07-2F1A-ED90CCCBAB2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6A765F3-475F-0D2B-BCA7-0E61921E7B7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04F1602-8D2E-B697-6FBC-144D6A0EDF0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DFE4069-7583-09B2-98D7-3737704768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1EFAFB-107A-4B2E-BAB4-5DD0D91A23D2}" type="datetimeFigureOut">
              <a:rPr lang="en-IN" smtClean="0"/>
              <a:t>17-03-2026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8FE3E89-4A24-67B1-1338-C9E0B0E425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01262C7-138F-B03E-A147-9D41DE54B6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A90D18-2C79-44E2-B48C-253E3580685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4582691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FEEF79-E600-6D72-ED3B-C6DB41D591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82E680E-5C1B-C5F6-EE3C-B30670994E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1EFAFB-107A-4B2E-BAB4-5DD0D91A23D2}" type="datetimeFigureOut">
              <a:rPr lang="en-IN" smtClean="0"/>
              <a:t>17-03-2026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4C492A4-A5CF-EA63-AEB8-2A5554C8F3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1671B42-2F70-B253-DA9F-FD8C4F967C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A90D18-2C79-44E2-B48C-253E3580685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2868615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1B3C14D-C1EC-1B7E-B111-47D15B9A2B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1EFAFB-107A-4B2E-BAB4-5DD0D91A23D2}" type="datetimeFigureOut">
              <a:rPr lang="en-IN" smtClean="0"/>
              <a:t>17-03-2026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8ADAE73-CA17-4D4F-5FB4-99A0ABD97D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A3C6D6A-9F9B-BDB6-7014-A0C0C06FC8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A90D18-2C79-44E2-B48C-253E3580685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588918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7F183A-627C-C7AC-0B10-F82E7AB196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FDEAEE-979D-FBE5-BF72-069AD7F6B25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FA816AD-56EB-BC11-01EF-362B95B34B8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3FAD45C-1667-11CF-9DF5-039DBCDC06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1EFAFB-107A-4B2E-BAB4-5DD0D91A23D2}" type="datetimeFigureOut">
              <a:rPr lang="en-IN" smtClean="0"/>
              <a:t>17-03-2026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F0B5F29-CB27-38EC-6657-6EBC70EFEF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24D8A86-04BF-7BB6-0096-C3A3C1199D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A90D18-2C79-44E2-B48C-253E3580685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26707771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4ED28D-2801-C14D-CD4B-63D64CD679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6B20812-D9F1-D8A8-6074-A12732B19B9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45DC6B4-1B1C-3095-DAA0-710BDBBFE92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5FB7900-4A70-2DCB-DE7E-12CAFDFC3C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1EFAFB-107A-4B2E-BAB4-5DD0D91A23D2}" type="datetimeFigureOut">
              <a:rPr lang="en-IN" smtClean="0"/>
              <a:t>17-03-2026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D901570-DE3D-B390-1E27-F6E45B8293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A14CB39-D384-1974-C33D-CD673546C1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A90D18-2C79-44E2-B48C-253E3580685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2121766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AE21CC-D180-BEA2-4F59-C9FB9A173A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1D795B2-7461-F0C2-EE2D-B754E794490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21912D9-BA68-E02D-803C-ED2CBBCEA0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1EFAFB-107A-4B2E-BAB4-5DD0D91A23D2}" type="datetimeFigureOut">
              <a:rPr lang="en-IN" smtClean="0"/>
              <a:t>17-03-2026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0A4F779-C8D2-67C1-674B-84A00F21A3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AA949DD-8FBE-34B9-0767-1329044675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A90D18-2C79-44E2-B48C-253E3580685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27690377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BDB3A0F-7777-E132-F92C-D4D31916ED2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E519B36-9F55-23A2-95E1-31658734E65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2C9E3F8-5F6D-C116-A60B-60ABC69EFC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1EFAFB-107A-4B2E-BAB4-5DD0D91A23D2}" type="datetimeFigureOut">
              <a:rPr lang="en-IN" smtClean="0"/>
              <a:t>17-03-2026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B4E56C6-6743-3CDD-71F0-A02E001149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61F5586-6100-78C9-9F05-28844EBD37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A90D18-2C79-44E2-B48C-253E3580685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8083369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1C0FAA6-454C-A8B1-0911-011963D823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8510D2A-549F-6ABD-006A-642E4425B2B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7D95387-BD76-1C3B-4669-F986110C144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51EFAFB-107A-4B2E-BAB4-5DD0D91A23D2}" type="datetimeFigureOut">
              <a:rPr lang="en-IN" smtClean="0"/>
              <a:t>17-03-2026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3F0F77C-CF15-B213-20DA-B2FC9C3CE84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C3FBABD-1FE9-7333-BACF-EA5C0BFF558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3A90D18-2C79-44E2-B48C-253E3580685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66514158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4B9590-D5C7-5BDC-65D0-F20501E94DC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10184" y="271971"/>
            <a:ext cx="9144000" cy="804760"/>
          </a:xfrm>
        </p:spPr>
        <p:txBody>
          <a:bodyPr>
            <a:normAutofit/>
          </a:bodyPr>
          <a:lstStyle/>
          <a:p>
            <a:pPr algn="l"/>
            <a:r>
              <a:rPr lang="fr-FR" sz="3000" dirty="0"/>
              <a:t>CI/CD Enablement &amp; Multi-</a:t>
            </a:r>
            <a:r>
              <a:rPr lang="fr-FR" sz="3000" dirty="0" err="1"/>
              <a:t>Environment</a:t>
            </a:r>
            <a:r>
              <a:rPr lang="fr-FR" sz="3000" dirty="0"/>
              <a:t> Setup</a:t>
            </a:r>
            <a:endParaRPr lang="en-IN" sz="3000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075E65C-9787-C7DB-16DA-0FA37DA6515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19912" y="1352614"/>
            <a:ext cx="9144000" cy="4325810"/>
          </a:xfrm>
        </p:spPr>
        <p:txBody>
          <a:bodyPr>
            <a:normAutofit fontScale="85000" lnSpcReduction="20000"/>
          </a:bodyPr>
          <a:lstStyle/>
          <a:p>
            <a:pPr algn="l"/>
            <a:r>
              <a:rPr lang="en-IN" b="1" dirty="0"/>
              <a:t>What we implemented:</a:t>
            </a:r>
            <a:endParaRPr lang="en-IN" dirty="0"/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IN" dirty="0"/>
              <a:t>Setup </a:t>
            </a:r>
            <a:r>
              <a:rPr lang="en-IN" b="1" dirty="0"/>
              <a:t>Dev, UAT, Prod environments</a:t>
            </a:r>
            <a:r>
              <a:rPr lang="en-IN" dirty="0"/>
              <a:t> for ML/AI workloads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IN" dirty="0"/>
              <a:t>Built </a:t>
            </a:r>
            <a:r>
              <a:rPr lang="en-IN" b="1" dirty="0"/>
              <a:t>GitHub Actions CI/CD pipeline</a:t>
            </a:r>
            <a:r>
              <a:rPr lang="en-IN" dirty="0"/>
              <a:t> (build → test → deploy)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IN" dirty="0"/>
              <a:t>Enabled </a:t>
            </a:r>
            <a:r>
              <a:rPr lang="en-IN" b="1" dirty="0"/>
              <a:t>Git-based version control</a:t>
            </a:r>
            <a:r>
              <a:rPr lang="en-IN" dirty="0"/>
              <a:t>:</a:t>
            </a:r>
          </a:p>
          <a:p>
            <a:pPr marL="800100" lvl="1" indent="-342900" algn="l">
              <a:buFont typeface="Arial" panose="020B0604020202020204" pitchFamily="34" charset="0"/>
              <a:buChar char="•"/>
            </a:pPr>
            <a:r>
              <a:rPr lang="en-IN" dirty="0"/>
              <a:t>Branching strategy (dev → </a:t>
            </a:r>
            <a:r>
              <a:rPr lang="en-IN" dirty="0" err="1"/>
              <a:t>uat</a:t>
            </a:r>
            <a:r>
              <a:rPr lang="en-IN" dirty="0"/>
              <a:t> → prod)</a:t>
            </a:r>
          </a:p>
          <a:p>
            <a:pPr marL="800100" lvl="1" indent="-342900" algn="l">
              <a:buFont typeface="Arial" panose="020B0604020202020204" pitchFamily="34" charset="0"/>
              <a:buChar char="•"/>
            </a:pPr>
            <a:r>
              <a:rPr lang="en-IN" dirty="0"/>
              <a:t>Change traceability &amp; rollback support</a:t>
            </a:r>
          </a:p>
          <a:p>
            <a:pPr marL="800100" lvl="1" indent="-342900" algn="l">
              <a:buFont typeface="Arial" panose="020B0604020202020204" pitchFamily="34" charset="0"/>
              <a:buChar char="•"/>
            </a:pPr>
            <a:endParaRPr lang="en-IN" dirty="0"/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IN" dirty="0"/>
              <a:t>Integrated </a:t>
            </a:r>
            <a:r>
              <a:rPr lang="en-IN" b="1" dirty="0"/>
              <a:t>automated testing</a:t>
            </a:r>
            <a:r>
              <a:rPr lang="en-IN" dirty="0"/>
              <a:t>:</a:t>
            </a:r>
          </a:p>
          <a:p>
            <a:pPr marL="800100" lvl="1" indent="-342900" algn="l">
              <a:buFont typeface="Arial" panose="020B0604020202020204" pitchFamily="34" charset="0"/>
              <a:buChar char="•"/>
            </a:pPr>
            <a:r>
              <a:rPr lang="en-IN" dirty="0"/>
              <a:t>Unit tests</a:t>
            </a:r>
          </a:p>
          <a:p>
            <a:pPr marL="800100" lvl="1" indent="-342900" algn="l">
              <a:buFont typeface="Arial" panose="020B0604020202020204" pitchFamily="34" charset="0"/>
              <a:buChar char="•"/>
            </a:pPr>
            <a:r>
              <a:rPr lang="en-IN" dirty="0"/>
              <a:t>Integration tests</a:t>
            </a:r>
          </a:p>
          <a:p>
            <a:pPr algn="l"/>
            <a:r>
              <a:rPr lang="en-IN" b="1" dirty="0"/>
              <a:t>Key Outcomes:</a:t>
            </a:r>
            <a:endParaRPr lang="en-IN" dirty="0"/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IN" b="1" dirty="0"/>
              <a:t>Consistent &amp; repeatable deployments</a:t>
            </a:r>
            <a:endParaRPr lang="en-IN" dirty="0"/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IN" dirty="0"/>
              <a:t>Improved </a:t>
            </a:r>
            <a:r>
              <a:rPr lang="en-IN" b="1" dirty="0"/>
              <a:t>code quality via automated validation</a:t>
            </a:r>
            <a:endParaRPr lang="en-IN" dirty="0"/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IN" b="1" dirty="0"/>
              <a:t>Faster rollback &amp; release standardization</a:t>
            </a:r>
            <a:endParaRPr lang="en-IN" dirty="0"/>
          </a:p>
          <a:p>
            <a:pPr algn="l"/>
            <a:endParaRPr lang="en-IN" sz="1600" dirty="0"/>
          </a:p>
        </p:txBody>
      </p:sp>
    </p:spTree>
    <p:extLst>
      <p:ext uri="{BB962C8B-B14F-4D97-AF65-F5344CB8AC3E}">
        <p14:creationId xmlns:p14="http://schemas.microsoft.com/office/powerpoint/2010/main" val="36386990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F23FA7-CFF0-44C6-4F19-1C355A7488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B82CB-7E64-EE87-4A38-A485F92B331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10184" y="271971"/>
            <a:ext cx="9144000" cy="804760"/>
          </a:xfrm>
        </p:spPr>
        <p:txBody>
          <a:bodyPr>
            <a:normAutofit/>
          </a:bodyPr>
          <a:lstStyle/>
          <a:p>
            <a:pPr algn="l"/>
            <a:r>
              <a:rPr lang="en-IN" sz="3200" dirty="0"/>
              <a:t>Multi-Environment Architecture</a:t>
            </a:r>
            <a:endParaRPr lang="en-IN" sz="3000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660E25A-C687-1978-AE3B-FB4D0C945CA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92480" y="4461574"/>
            <a:ext cx="5205984" cy="1948370"/>
          </a:xfrm>
        </p:spPr>
        <p:txBody>
          <a:bodyPr>
            <a:normAutofit/>
          </a:bodyPr>
          <a:lstStyle/>
          <a:p>
            <a:pPr algn="l"/>
            <a:r>
              <a:rPr lang="en-IN" sz="1600" b="1" dirty="0"/>
              <a:t>Highlights:</a:t>
            </a:r>
            <a:endParaRPr lang="en-IN" sz="1600" dirty="0"/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IN" sz="1600" b="1" dirty="0"/>
              <a:t>AWS multi-account setup</a:t>
            </a:r>
            <a:r>
              <a:rPr lang="en-IN" sz="1600" dirty="0"/>
              <a:t> (RSH / Dev / UAT / Prod)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IN" sz="1600" dirty="0"/>
              <a:t>CI/CD pipeline handles </a:t>
            </a:r>
            <a:r>
              <a:rPr lang="en-IN" sz="1600" b="1" dirty="0"/>
              <a:t>build, test, deploy &amp; promotion</a:t>
            </a:r>
            <a:endParaRPr lang="en-IN" sz="1600" dirty="0"/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IN" sz="1600" b="1" dirty="0"/>
              <a:t>IAM-based secure deployments</a:t>
            </a:r>
            <a:r>
              <a:rPr lang="en-IN" sz="1600" dirty="0"/>
              <a:t> per environment</a:t>
            </a:r>
          </a:p>
        </p:txBody>
      </p:sp>
    </p:spTree>
    <p:extLst>
      <p:ext uri="{BB962C8B-B14F-4D97-AF65-F5344CB8AC3E}">
        <p14:creationId xmlns:p14="http://schemas.microsoft.com/office/powerpoint/2010/main" val="136673429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2FE2C7-5AA1-8A5E-70B8-5DDF9766D5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C31A9A-AE8F-D574-7490-82C06422185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10184" y="271971"/>
            <a:ext cx="9144000" cy="804760"/>
          </a:xfrm>
        </p:spPr>
        <p:txBody>
          <a:bodyPr>
            <a:normAutofit/>
          </a:bodyPr>
          <a:lstStyle/>
          <a:p>
            <a:pPr algn="l"/>
            <a:r>
              <a:rPr lang="en-IN" sz="3200" dirty="0"/>
              <a:t>SageMaker Pipeline Migration (RSH → Multi-Env)</a:t>
            </a:r>
            <a:endParaRPr lang="en-IN" sz="3000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576A73B-7C04-7C7B-5CF1-9261F385B42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19912" y="1590358"/>
            <a:ext cx="9144000" cy="3832034"/>
          </a:xfrm>
        </p:spPr>
        <p:txBody>
          <a:bodyPr>
            <a:normAutofit/>
          </a:bodyPr>
          <a:lstStyle/>
          <a:p>
            <a:pPr algn="l"/>
            <a:r>
              <a:rPr lang="en-IN" sz="2000" b="1" dirty="0"/>
              <a:t>What we executed:</a:t>
            </a:r>
          </a:p>
          <a:p>
            <a:pPr marL="342900" lvl="0" indent="-342900" algn="l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000" dirty="0">
                <a:latin typeface="Arial" panose="020B0604020202020204" pitchFamily="34" charset="0"/>
              </a:rPr>
              <a:t>Migrated </a:t>
            </a:r>
            <a:r>
              <a:rPr lang="en-US" altLang="en-US" sz="2000" b="1" dirty="0">
                <a:latin typeface="Arial" panose="020B0604020202020204" pitchFamily="34" charset="0"/>
              </a:rPr>
              <a:t>all SageMaker pipelines from RSH account</a:t>
            </a:r>
            <a:endParaRPr lang="en-US" altLang="en-US" sz="2000" dirty="0">
              <a:latin typeface="Arial" panose="020B0604020202020204" pitchFamily="34" charset="0"/>
            </a:endParaRPr>
          </a:p>
          <a:p>
            <a:pPr marL="342900" lvl="0" indent="-342900" algn="l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000" dirty="0">
                <a:latin typeface="Arial" panose="020B0604020202020204" pitchFamily="34" charset="0"/>
              </a:rPr>
              <a:t>Deployed into </a:t>
            </a:r>
            <a:r>
              <a:rPr lang="en-US" altLang="en-US" sz="2000" b="1" dirty="0">
                <a:latin typeface="Arial" panose="020B0604020202020204" pitchFamily="34" charset="0"/>
              </a:rPr>
              <a:t>Dev, UAT, Prod AWS accounts</a:t>
            </a:r>
            <a:endParaRPr lang="en-US" altLang="en-US" sz="2000" dirty="0">
              <a:latin typeface="Arial" panose="020B0604020202020204" pitchFamily="34" charset="0"/>
            </a:endParaRPr>
          </a:p>
          <a:p>
            <a:pPr marL="342900" lvl="0" indent="-342900" algn="l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000" dirty="0">
                <a:latin typeface="Arial" panose="020B0604020202020204" pitchFamily="34" charset="0"/>
              </a:rPr>
              <a:t>Configured </a:t>
            </a:r>
            <a:r>
              <a:rPr lang="en-US" altLang="en-US" sz="2000" b="1" dirty="0">
                <a:latin typeface="Arial" panose="020B0604020202020204" pitchFamily="34" charset="0"/>
              </a:rPr>
              <a:t>env-specific parameters &amp; resources</a:t>
            </a:r>
          </a:p>
          <a:p>
            <a:pPr lvl="0" algn="l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endParaRPr lang="en-US" sz="2000" b="1" dirty="0">
              <a:latin typeface="Arial" panose="020B0604020202020204" pitchFamily="34" charset="0"/>
            </a:endParaRPr>
          </a:p>
          <a:p>
            <a:pPr algn="l"/>
            <a:r>
              <a:rPr lang="en-US" sz="2000" b="1" dirty="0"/>
              <a:t>Key Outcomes:</a:t>
            </a:r>
            <a:endParaRPr lang="en-US" sz="2000" dirty="0"/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sz="2000" b="1" dirty="0"/>
              <a:t>Strong environment isolation &amp; governance</a:t>
            </a:r>
            <a:endParaRPr lang="en-US" sz="2000" dirty="0"/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sz="2000" dirty="0"/>
              <a:t>Improved </a:t>
            </a:r>
            <a:r>
              <a:rPr lang="en-US" sz="2000" b="1" dirty="0"/>
              <a:t>security (account-level segregation)</a:t>
            </a:r>
            <a:endParaRPr lang="en-US" sz="2000" dirty="0"/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sz="2000" dirty="0"/>
              <a:t>Better </a:t>
            </a:r>
            <a:r>
              <a:rPr lang="en-US" sz="2000" b="1" dirty="0"/>
              <a:t>scalability &amp; maintainability</a:t>
            </a:r>
            <a:endParaRPr lang="en-US" sz="2000" dirty="0"/>
          </a:p>
          <a:p>
            <a:pPr lvl="0" algn="l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IN" sz="2000" b="1" dirty="0"/>
          </a:p>
          <a:p>
            <a:pPr algn="l"/>
            <a:endParaRPr lang="en-IN" sz="1600" dirty="0"/>
          </a:p>
        </p:txBody>
      </p:sp>
    </p:spTree>
    <p:extLst>
      <p:ext uri="{BB962C8B-B14F-4D97-AF65-F5344CB8AC3E}">
        <p14:creationId xmlns:p14="http://schemas.microsoft.com/office/powerpoint/2010/main" val="23494350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036897-576E-8A7C-2B4D-84E81F6D92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169B48-65F3-17ED-BFAB-733472FA20D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10184" y="601155"/>
            <a:ext cx="9144000" cy="804760"/>
          </a:xfrm>
        </p:spPr>
        <p:txBody>
          <a:bodyPr>
            <a:normAutofit/>
          </a:bodyPr>
          <a:lstStyle/>
          <a:p>
            <a:pPr algn="l"/>
            <a:r>
              <a:rPr lang="en-IN" sz="3200" dirty="0"/>
              <a:t>Overall Impact</a:t>
            </a:r>
            <a:endParaRPr lang="en-IN" sz="3000" dirty="0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D2C510F9-3EC2-B481-547E-06A9A60B69AC}"/>
              </a:ext>
            </a:extLst>
          </p:cNvPr>
          <p:cNvSpPr>
            <a:spLocks noGrp="1" noChangeArrowheads="1"/>
          </p:cNvSpPr>
          <p:nvPr>
            <p:ph type="subTitle" idx="1"/>
          </p:nvPr>
        </p:nvSpPr>
        <p:spPr bwMode="auto">
          <a:xfrm>
            <a:off x="710184" y="1772767"/>
            <a:ext cx="6590266" cy="120032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Enabled 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end-to-end ML CI/CD (</a:t>
            </a:r>
            <a:r>
              <a:rPr kumimoji="0" lang="en-US" altLang="en-US" sz="18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MLOps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)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Reduced 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deployment risk with testing + automation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Established 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production-ready multi-account architecture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Improved 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team productivity &amp; collaboration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7241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</TotalTime>
  <Words>193</Words>
  <Application>Microsoft Office PowerPoint</Application>
  <PresentationFormat>Widescreen</PresentationFormat>
  <Paragraphs>35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Aptos</vt:lpstr>
      <vt:lpstr>Aptos Display</vt:lpstr>
      <vt:lpstr>Arial</vt:lpstr>
      <vt:lpstr>Office Theme</vt:lpstr>
      <vt:lpstr>CI/CD Enablement &amp; Multi-Environment Setup</vt:lpstr>
      <vt:lpstr>Multi-Environment Architecture</vt:lpstr>
      <vt:lpstr>SageMaker Pipeline Migration (RSH → Multi-Env)</vt:lpstr>
      <vt:lpstr>Overall Impact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Kuldeep Singh1</dc:creator>
  <cp:lastModifiedBy>Kuldeep Singh1</cp:lastModifiedBy>
  <cp:revision>1</cp:revision>
  <dcterms:created xsi:type="dcterms:W3CDTF">2026-03-17T13:33:55Z</dcterms:created>
  <dcterms:modified xsi:type="dcterms:W3CDTF">2026-03-17T13:50:59Z</dcterms:modified>
</cp:coreProperties>
</file>
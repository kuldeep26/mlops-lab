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60" d="100"/>
          <a:sy n="60" d="100"/>
        </p:scale>
        <p:origin x="908" y="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254EF3-2973-7C1B-42BD-9462E5901E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6429F68-20A2-9A71-DEDD-10D6C8A9DF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C33B28-E006-C813-53D2-14A6FE8CA9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EBCE39-89C6-4502-960E-2A978B0A1D19}" type="datetimeFigureOut">
              <a:rPr lang="en-IN" smtClean="0"/>
              <a:t>08-12-2025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0A4991-9D64-409A-55AD-91EB6C6129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329BFF-1008-3701-DA3B-7A8694E3B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B70FAC-4DE1-435A-87D8-9A73169ED7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74317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2ABF70-45B4-2B5D-B57D-DB70BBBBE4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9F508B-0EB1-ED27-07C1-CFB1597A8C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4744D6-D34F-3BD1-5B38-645CF7DC8A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EBCE39-89C6-4502-960E-2A978B0A1D19}" type="datetimeFigureOut">
              <a:rPr lang="en-IN" smtClean="0"/>
              <a:t>08-12-2025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601EC2-30A6-4F64-09C0-720269E4D2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3C3087-E61A-6C14-72C8-CAB88A2C87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B70FAC-4DE1-435A-87D8-9A73169ED7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31611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749F54-E474-79AA-1B6A-1302D75AD4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FD4CD1-5C19-3DB7-C29E-535792749E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0E006C-8666-B5A4-F1BB-44C7C700DE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EBCE39-89C6-4502-960E-2A978B0A1D19}" type="datetimeFigureOut">
              <a:rPr lang="en-IN" smtClean="0"/>
              <a:t>08-12-2025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59A70D-CC19-140B-F0F7-8D40CBC271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308A59-63E0-D305-8EFF-9555BF5CCD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B70FAC-4DE1-435A-87D8-9A73169ED7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76476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5CBFC6-6807-4F06-8201-F35C220293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D731ED-AAD4-3475-7813-F41911FB9A6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35648D-F99A-C1DB-3224-B12E731B16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0DE2A4-A211-AF01-D95B-D8D100C171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EBCE39-89C6-4502-960E-2A978B0A1D19}" type="datetimeFigureOut">
              <a:rPr lang="en-IN" smtClean="0"/>
              <a:t>08-12-2025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DC8B8F-6D0F-2B05-E984-A0B31B686C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447FCE-3BC5-FEF6-146F-EBDE995DDC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B70FAC-4DE1-435A-87D8-9A73169ED7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89073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A80CC7-B3D5-D743-2469-000631E7DD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3793F3-D3AB-29E6-8B98-ACB895BE57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2D3513-5E9C-FCDC-CA52-2D373F74A0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078B0EB-E624-C3E4-19B5-F69E8042D94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DF0EF05-0F8B-73C6-94EA-5AE53EF70DB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96D89F6-1304-46D9-7C56-E4A0E8CBB0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EBCE39-89C6-4502-960E-2A978B0A1D19}" type="datetimeFigureOut">
              <a:rPr lang="en-IN" smtClean="0"/>
              <a:t>08-12-2025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18B3584-7056-C4F6-D56C-802E564A7E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642339F-728F-1119-C769-90C46FDF86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B70FAC-4DE1-435A-87D8-9A73169ED7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79210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35A0F4-E90D-EE71-01CF-8D35B54381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8B095A-85A6-49FF-5D1B-89200B3474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EBCE39-89C6-4502-960E-2A978B0A1D19}" type="datetimeFigureOut">
              <a:rPr lang="en-IN" smtClean="0"/>
              <a:t>08-12-2025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4C311F9-3566-2AC6-A4F2-93CE0F1133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8C6AED-2596-845D-958F-E070D580F5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B70FAC-4DE1-435A-87D8-9A73169ED7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0639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B366C41-AAE5-82A8-92BB-1BD6B8A283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EBCE39-89C6-4502-960E-2A978B0A1D19}" type="datetimeFigureOut">
              <a:rPr lang="en-IN" smtClean="0"/>
              <a:t>08-12-2025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DA69DDA-DB73-0098-3525-AE43F53EF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9C6245-7EF2-B416-6CDF-CC69AFE49E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B70FAC-4DE1-435A-87D8-9A73169ED7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38720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7B0CB6-E298-33E8-E1DE-92CBA6D538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B66411-3EC9-B347-B78E-719063594F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D3F094-7C1D-B25B-9CA6-34807EB6D3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76016A-F2FA-387B-0CF7-6D0E41946C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EBCE39-89C6-4502-960E-2A978B0A1D19}" type="datetimeFigureOut">
              <a:rPr lang="en-IN" smtClean="0"/>
              <a:t>08-12-2025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D0D198-667C-E7A3-0E60-FCEB09750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9608BB-2CD3-2582-7B79-59D34CE7E0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B70FAC-4DE1-435A-87D8-9A73169ED7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16454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356F71-BBD0-6C6C-F25D-B4CD6A35B9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A7AA935-67EE-9B54-97AB-0109F72F0BB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E7CC10E-8DDC-97FA-FC33-69A573AFBD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95DDB8-83C8-E35A-F4BA-6D25524DE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EBCE39-89C6-4502-960E-2A978B0A1D19}" type="datetimeFigureOut">
              <a:rPr lang="en-IN" smtClean="0"/>
              <a:t>08-12-2025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501F03-9A25-CF62-365C-62A25930F2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070E7B-1D1B-C4D1-22CB-C91C193B66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B70FAC-4DE1-435A-87D8-9A73169ED7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91637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56B8CB-8021-835F-68CF-A25B10D175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C2B776-3AEB-4346-2C7F-38CB6B5891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854436-C5A3-C9AF-0350-80BDBAA9CD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EBCE39-89C6-4502-960E-2A978B0A1D19}" type="datetimeFigureOut">
              <a:rPr lang="en-IN" smtClean="0"/>
              <a:t>08-12-2025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C9AB32-3A27-C3B2-5F32-48AD7D8243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31916C-63FD-36B3-6A68-D966066A23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B70FAC-4DE1-435A-87D8-9A73169ED7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9961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3289D6-51EF-F408-2D88-BDCB79B6524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DDC20E6-B043-2DF9-72F5-17866B1A90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CDECD0-8195-6529-3E10-1DAE5C3AE2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EBCE39-89C6-4502-960E-2A978B0A1D19}" type="datetimeFigureOut">
              <a:rPr lang="en-IN" smtClean="0"/>
              <a:t>08-12-2025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BB531E-9A39-86B5-8D45-A3D1C886F0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267AF4-96FE-F36C-830D-B9AFA201BB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B70FAC-4DE1-435A-87D8-9A73169ED7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37915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F4AA824-4F26-A7A0-F145-4C4FF8C067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D2C59D-8604-3582-31AF-DCA48DD2C8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47F561-833A-D9FF-9CC5-779659C59CF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AEBCE39-89C6-4502-960E-2A978B0A1D19}" type="datetimeFigureOut">
              <a:rPr lang="en-IN" smtClean="0"/>
              <a:t>08-12-2025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5BD2B2-18D2-09EA-E40B-FF695D8537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84019B-4F22-481F-B921-B35172B7EF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B70FAC-4DE1-435A-87D8-9A73169ED7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36655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8C790BE2-4E4F-4AAF-81A2-4A6F4885E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28B54C3-B57B-472A-B96E-1FCB67093D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0"/>
            <a:ext cx="12191999" cy="6858000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rgbClr val="000000"/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DB3C429-F8DA-49B9-AF84-21996FCF7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-4"/>
            <a:ext cx="12192000" cy="6402581"/>
          </a:xfrm>
          <a:prstGeom prst="rect">
            <a:avLst/>
          </a:prstGeom>
          <a:gradFill>
            <a:gsLst>
              <a:gs pos="1000">
                <a:schemeClr val="accent1">
                  <a:lumMod val="75000"/>
                  <a:alpha val="59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12088DD-B1AD-40E0-8B86-1D87A2CCD9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63054" y="-2653923"/>
            <a:ext cx="6858001" cy="12165846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rgbClr val="000000">
                  <a:alpha val="28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4C9F2B0-1044-46EB-8AEB-C3BFFDE6C2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94763" y="0"/>
            <a:ext cx="6096001" cy="6858000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chemeClr val="accent1">
                  <a:lumMod val="75000"/>
                  <a:alpha val="50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C395952-4E26-45A2-8756-2ADFD6E53C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-3"/>
            <a:ext cx="12182871" cy="6871922"/>
          </a:xfrm>
          <a:prstGeom prst="rect">
            <a:avLst/>
          </a:prstGeom>
          <a:gradFill>
            <a:gsLst>
              <a:gs pos="13000">
                <a:srgbClr val="000000">
                  <a:alpha val="35000"/>
                </a:srgbClr>
              </a:gs>
              <a:gs pos="99000">
                <a:schemeClr val="accent1">
                  <a:lumMod val="75000"/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4734BADF-9461-4621-B112-2D7BABEA7D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7713" y="4049"/>
            <a:ext cx="10216576" cy="4729040"/>
          </a:xfrm>
          <a:custGeom>
            <a:avLst/>
            <a:gdLst>
              <a:gd name="connsiteX0" fmla="*/ 0 w 10216576"/>
              <a:gd name="connsiteY0" fmla="*/ 0 h 4729040"/>
              <a:gd name="connsiteX1" fmla="*/ 10216576 w 10216576"/>
              <a:gd name="connsiteY1" fmla="*/ 0 h 4729040"/>
              <a:gd name="connsiteX2" fmla="*/ 10210268 w 10216576"/>
              <a:gd name="connsiteY2" fmla="*/ 124944 h 4729040"/>
              <a:gd name="connsiteX3" fmla="*/ 5108288 w 10216576"/>
              <a:gd name="connsiteY3" fmla="*/ 4729040 h 4729040"/>
              <a:gd name="connsiteX4" fmla="*/ 6309 w 10216576"/>
              <a:gd name="connsiteY4" fmla="*/ 124944 h 4729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216576" h="4729040">
                <a:moveTo>
                  <a:pt x="0" y="0"/>
                </a:moveTo>
                <a:lnTo>
                  <a:pt x="10216576" y="0"/>
                </a:lnTo>
                <a:lnTo>
                  <a:pt x="10210268" y="124944"/>
                </a:lnTo>
                <a:cubicBezTo>
                  <a:pt x="9947637" y="2710997"/>
                  <a:pt x="7763635" y="4729040"/>
                  <a:pt x="5108288" y="4729040"/>
                </a:cubicBezTo>
                <a:cubicBezTo>
                  <a:pt x="2452942" y="4729040"/>
                  <a:pt x="268937" y="2710997"/>
                  <a:pt x="6309" y="124944"/>
                </a:cubicBezTo>
                <a:close/>
              </a:path>
            </a:pathLst>
          </a:custGeom>
          <a:gradFill>
            <a:gsLst>
              <a:gs pos="7000">
                <a:schemeClr val="accent1">
                  <a:lumMod val="50000"/>
                  <a:alpha val="4000"/>
                </a:schemeClr>
              </a:gs>
              <a:gs pos="99000">
                <a:schemeClr val="accent1">
                  <a:alpha val="2400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905C87-9B8A-FE6A-E1AF-E81996D799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26693" y="1030406"/>
            <a:ext cx="8147713" cy="3081242"/>
          </a:xfrm>
        </p:spPr>
        <p:txBody>
          <a:bodyPr anchor="ctr">
            <a:normAutofit/>
          </a:bodyPr>
          <a:lstStyle/>
          <a:p>
            <a:r>
              <a:rPr lang="en-IN" sz="4800">
                <a:solidFill>
                  <a:srgbClr val="FFFFFF"/>
                </a:solidFill>
              </a:rPr>
              <a:t>Multi-Environment Setup &amp; SageMaker Pipeline Logging and Monitoring</a:t>
            </a:r>
          </a:p>
        </p:txBody>
      </p:sp>
    </p:spTree>
    <p:extLst>
      <p:ext uri="{BB962C8B-B14F-4D97-AF65-F5344CB8AC3E}">
        <p14:creationId xmlns:p14="http://schemas.microsoft.com/office/powerpoint/2010/main" val="19746844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0D2A0F9-168E-499F-5129-039718116E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9713" y="248038"/>
            <a:ext cx="7063721" cy="1159200"/>
          </a:xfrm>
        </p:spPr>
        <p:txBody>
          <a:bodyPr anchor="ctr">
            <a:normAutofit/>
          </a:bodyPr>
          <a:lstStyle/>
          <a:p>
            <a:pPr algn="l"/>
            <a:r>
              <a:rPr lang="en-IN" sz="3700">
                <a:solidFill>
                  <a:srgbClr val="FFFFFF"/>
                </a:solidFill>
              </a:rPr>
              <a:t>SageMaker Pipeline Multi-Environment Setup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7DA2DB9-0FA3-87AA-3A4D-539AA04630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7482897"/>
              </p:ext>
            </p:extLst>
          </p:nvPr>
        </p:nvGraphicFramePr>
        <p:xfrm>
          <a:off x="432225" y="2062289"/>
          <a:ext cx="11327550" cy="42601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17739">
                  <a:extLst>
                    <a:ext uri="{9D8B030D-6E8A-4147-A177-3AD203B41FA5}">
                      <a16:colId xmlns:a16="http://schemas.microsoft.com/office/drawing/2014/main" val="862019380"/>
                    </a:ext>
                  </a:extLst>
                </a:gridCol>
                <a:gridCol w="8409811">
                  <a:extLst>
                    <a:ext uri="{9D8B030D-6E8A-4147-A177-3AD203B41FA5}">
                      <a16:colId xmlns:a16="http://schemas.microsoft.com/office/drawing/2014/main" val="2808217555"/>
                    </a:ext>
                  </a:extLst>
                </a:gridCol>
              </a:tblGrid>
              <a:tr h="4221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/>
                        <a:t>Area</a:t>
                      </a:r>
                    </a:p>
                  </a:txBody>
                  <a:tcPr marL="95950" marR="95950" marT="47975" marB="4797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/>
                        <a:t>Information</a:t>
                      </a:r>
                    </a:p>
                  </a:txBody>
                  <a:tcPr marL="95950" marR="95950" marT="47975" marB="47975" anchor="ctr"/>
                </a:tc>
                <a:extLst>
                  <a:ext uri="{0D108BD9-81ED-4DB2-BD59-A6C34878D82A}">
                    <a16:rowId xmlns:a16="http://schemas.microsoft.com/office/drawing/2014/main" val="1243972505"/>
                  </a:ext>
                </a:extLst>
              </a:tr>
              <a:tr h="7100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 b="1" dirty="0"/>
                        <a:t>Earlier Setup</a:t>
                      </a:r>
                      <a:endParaRPr lang="en-IN" sz="1900" dirty="0"/>
                    </a:p>
                  </a:txBody>
                  <a:tcPr marL="95950" marR="95950" marT="47975" marB="4797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/>
                        <a:t>Dev, UAT, and Prod pipelines previously operated within a single shared RSH AWS account, limiting isolation and governance.</a:t>
                      </a:r>
                    </a:p>
                  </a:txBody>
                  <a:tcPr marL="95950" marR="95950" marT="47975" marB="47975" anchor="ctr"/>
                </a:tc>
                <a:extLst>
                  <a:ext uri="{0D108BD9-81ED-4DB2-BD59-A6C34878D82A}">
                    <a16:rowId xmlns:a16="http://schemas.microsoft.com/office/drawing/2014/main" val="3728882036"/>
                  </a:ext>
                </a:extLst>
              </a:tr>
              <a:tr h="9978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 b="1" dirty="0"/>
                        <a:t>New Target Architecture</a:t>
                      </a:r>
                      <a:endParaRPr lang="en-IN" sz="1900" dirty="0"/>
                    </a:p>
                  </a:txBody>
                  <a:tcPr marL="95950" marR="95950" marT="47975" marB="4797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dirty="0"/>
                        <a:t>Pipelines are being migrated to fully dedicated AWS accounts per environment (Dev → UAT → Prod) to strengthen security boundaries and compliance.</a:t>
                      </a:r>
                    </a:p>
                  </a:txBody>
                  <a:tcPr marL="95950" marR="95950" marT="47975" marB="47975" anchor="ctr"/>
                </a:tc>
                <a:extLst>
                  <a:ext uri="{0D108BD9-81ED-4DB2-BD59-A6C34878D82A}">
                    <a16:rowId xmlns:a16="http://schemas.microsoft.com/office/drawing/2014/main" val="1869328173"/>
                  </a:ext>
                </a:extLst>
              </a:tr>
              <a:tr h="7100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 b="1"/>
                        <a:t>Key Improvements</a:t>
                      </a:r>
                      <a:endParaRPr lang="en-IN" sz="1900"/>
                    </a:p>
                  </a:txBody>
                  <a:tcPr marL="95950" marR="95950" marT="47975" marB="4797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dirty="0"/>
                        <a:t>Enhanced environment isolation, controlled promotions, improved auditing, reduced operational risks, and environment-specific configurations.</a:t>
                      </a:r>
                    </a:p>
                  </a:txBody>
                  <a:tcPr marL="95950" marR="95950" marT="47975" marB="47975" anchor="ctr"/>
                </a:tc>
                <a:extLst>
                  <a:ext uri="{0D108BD9-81ED-4DB2-BD59-A6C34878D82A}">
                    <a16:rowId xmlns:a16="http://schemas.microsoft.com/office/drawing/2014/main" val="2742993992"/>
                  </a:ext>
                </a:extLst>
              </a:tr>
              <a:tr h="9978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 b="1"/>
                        <a:t>Migration Progress</a:t>
                      </a:r>
                      <a:endParaRPr lang="en-IN" sz="1900"/>
                    </a:p>
                  </a:txBody>
                  <a:tcPr marL="95950" marR="95950" marT="47975" marB="4797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dirty="0"/>
                        <a:t>Dev: Partially Completed </a:t>
                      </a:r>
                    </a:p>
                    <a:p>
                      <a:pPr>
                        <a:buNone/>
                      </a:pPr>
                      <a:r>
                        <a:rPr lang="en-US" sz="1900" dirty="0"/>
                        <a:t>UAT: Partially Completed  </a:t>
                      </a:r>
                    </a:p>
                    <a:p>
                      <a:pPr>
                        <a:buNone/>
                      </a:pPr>
                      <a:r>
                        <a:rPr lang="en-US" sz="1900" dirty="0"/>
                        <a:t>Prod: In Progress</a:t>
                      </a:r>
                    </a:p>
                  </a:txBody>
                  <a:tcPr marL="95950" marR="95950" marT="47975" marB="47975" anchor="ctr"/>
                </a:tc>
                <a:extLst>
                  <a:ext uri="{0D108BD9-81ED-4DB2-BD59-A6C34878D82A}">
                    <a16:rowId xmlns:a16="http://schemas.microsoft.com/office/drawing/2014/main" val="708178078"/>
                  </a:ext>
                </a:extLst>
              </a:tr>
              <a:tr h="4221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 b="1"/>
                        <a:t>Pipeline Portfolio</a:t>
                      </a:r>
                      <a:endParaRPr lang="en-IN" sz="1900"/>
                    </a:p>
                  </a:txBody>
                  <a:tcPr marL="95950" marR="95950" marT="47975" marB="4797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dirty="0"/>
                        <a:t>Total Pipelines: </a:t>
                      </a:r>
                      <a:r>
                        <a:rPr lang="en-US" sz="1900" b="1" dirty="0"/>
                        <a:t>7</a:t>
                      </a:r>
                      <a:r>
                        <a:rPr lang="en-US" sz="1900" dirty="0"/>
                        <a:t> (</a:t>
                      </a:r>
                      <a:r>
                        <a:rPr lang="en-US" sz="1900" b="1" dirty="0"/>
                        <a:t>3 ML</a:t>
                      </a:r>
                      <a:r>
                        <a:rPr lang="en-US" sz="1900" dirty="0"/>
                        <a:t>, </a:t>
                      </a:r>
                      <a:r>
                        <a:rPr lang="en-US" sz="1900" b="1" dirty="0"/>
                        <a:t>1 AI</a:t>
                      </a:r>
                      <a:r>
                        <a:rPr lang="en-US" sz="1900" dirty="0"/>
                        <a:t>, </a:t>
                      </a:r>
                      <a:r>
                        <a:rPr lang="en-US" sz="1900" b="1" dirty="0"/>
                        <a:t>3 Analytical)</a:t>
                      </a:r>
                      <a:endParaRPr lang="en-US" sz="1900" dirty="0"/>
                    </a:p>
                  </a:txBody>
                  <a:tcPr marL="95950" marR="95950" marT="47975" marB="47975" anchor="ctr"/>
                </a:tc>
                <a:extLst>
                  <a:ext uri="{0D108BD9-81ED-4DB2-BD59-A6C34878D82A}">
                    <a16:rowId xmlns:a16="http://schemas.microsoft.com/office/drawing/2014/main" val="20472287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668351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D671801-1154-6517-6932-A9CFE89272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AFB6D5-D4C8-D53A-69D4-BE6FCFB91F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37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CI/CD for AWS Infrastructure Provisioning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CE75265-67C0-80A7-1A31-539DD37EDA88}"/>
              </a:ext>
            </a:extLst>
          </p:cNvPr>
          <p:cNvSpPr txBox="1"/>
          <p:nvPr/>
        </p:nvSpPr>
        <p:spPr>
          <a:xfrm>
            <a:off x="8572499" y="390832"/>
            <a:ext cx="3233585" cy="8736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200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Terraform-Driven Resource Automation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98B4298-5260-7544-0D7F-1802A08212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9923550"/>
              </p:ext>
            </p:extLst>
          </p:nvPr>
        </p:nvGraphicFramePr>
        <p:xfrm>
          <a:off x="590487" y="1966293"/>
          <a:ext cx="11011026" cy="4452163"/>
        </p:xfrm>
        <a:graphic>
          <a:graphicData uri="http://schemas.openxmlformats.org/drawingml/2006/table">
            <a:tbl>
              <a:tblPr firstRow="1" bandRow="1">
                <a:solidFill>
                  <a:schemeClr val="bg1"/>
                </a:solidFill>
                <a:tableStyleId>{5C22544A-7EE6-4342-B048-85BDC9FD1C3A}</a:tableStyleId>
              </a:tblPr>
              <a:tblGrid>
                <a:gridCol w="2701191">
                  <a:extLst>
                    <a:ext uri="{9D8B030D-6E8A-4147-A177-3AD203B41FA5}">
                      <a16:colId xmlns:a16="http://schemas.microsoft.com/office/drawing/2014/main" val="862019380"/>
                    </a:ext>
                  </a:extLst>
                </a:gridCol>
                <a:gridCol w="8309835">
                  <a:extLst>
                    <a:ext uri="{9D8B030D-6E8A-4147-A177-3AD203B41FA5}">
                      <a16:colId xmlns:a16="http://schemas.microsoft.com/office/drawing/2014/main" val="2808217555"/>
                    </a:ext>
                  </a:extLst>
                </a:gridCol>
              </a:tblGrid>
              <a:tr h="5259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b="0" cap="none" spc="0" dirty="0">
                          <a:solidFill>
                            <a:schemeClr val="bg1"/>
                          </a:solidFill>
                        </a:rPr>
                        <a:t>Focus Area</a:t>
                      </a:r>
                    </a:p>
                  </a:txBody>
                  <a:tcPr marL="144454" marR="111119" marT="111119" marB="111119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b="0" cap="none" spc="0" dirty="0">
                          <a:solidFill>
                            <a:schemeClr val="bg1"/>
                          </a:solidFill>
                        </a:rPr>
                        <a:t>Description</a:t>
                      </a:r>
                    </a:p>
                  </a:txBody>
                  <a:tcPr marL="144454" marR="111119" marT="111119" marB="111119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3972505"/>
                  </a:ext>
                </a:extLst>
              </a:tr>
              <a:tr h="7852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b="1" cap="none" spc="0">
                          <a:solidFill>
                            <a:schemeClr val="tx1"/>
                          </a:solidFill>
                        </a:rPr>
                        <a:t>Infrastructure Provisioning Model</a:t>
                      </a:r>
                      <a:endParaRPr lang="en-IN" sz="17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44454" marR="111119" marT="111119" marB="111119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381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cap="none" spc="0">
                          <a:solidFill>
                            <a:schemeClr val="tx1"/>
                          </a:solidFill>
                        </a:rPr>
                        <a:t>All AWS resources required for SageMaker pipelines—IAM, S3, VPC, KMS, logging components, etc.—are now created via </a:t>
                      </a:r>
                      <a:r>
                        <a:rPr lang="en-IN" sz="1700" b="1" cap="none" spc="0">
                          <a:solidFill>
                            <a:schemeClr val="tx1"/>
                          </a:solidFill>
                        </a:rPr>
                        <a:t>Terraform CI/CD</a:t>
                      </a:r>
                      <a:r>
                        <a:rPr lang="en-IN" sz="1700" cap="none" spc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 marL="144454" marR="111119" marT="111119" marB="11111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381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8882036"/>
                  </a:ext>
                </a:extLst>
              </a:tr>
              <a:tr h="7852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b="1" cap="none" spc="0">
                          <a:solidFill>
                            <a:schemeClr val="tx1"/>
                          </a:solidFill>
                        </a:rPr>
                        <a:t>Process Enhancements</a:t>
                      </a:r>
                      <a:endParaRPr lang="en-IN" sz="17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44454" marR="111119" marT="111119" marB="11111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cap="none" spc="0">
                          <a:solidFill>
                            <a:schemeClr val="tx1"/>
                          </a:solidFill>
                        </a:rPr>
                        <a:t>Manual steps replaced entirely with IaC, ensuring consistency, reliability, and repeatability across environments.</a:t>
                      </a:r>
                    </a:p>
                  </a:txBody>
                  <a:tcPr marL="144454" marR="111119" marT="111119" marB="11111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9328173"/>
                  </a:ext>
                </a:extLst>
              </a:tr>
              <a:tr h="7852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b="1" cap="none" spc="0">
                          <a:solidFill>
                            <a:schemeClr val="tx1"/>
                          </a:solidFill>
                        </a:rPr>
                        <a:t>Governance &amp; Compliance</a:t>
                      </a:r>
                      <a:endParaRPr lang="en-IN" sz="17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44454" marR="111119" marT="111119" marB="111119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cap="none" spc="0">
                          <a:solidFill>
                            <a:schemeClr val="tx1"/>
                          </a:solidFill>
                        </a:rPr>
                        <a:t>All changes pass through TechLink approval, Git workflows, and Terraform plan validations before deployment.</a:t>
                      </a:r>
                    </a:p>
                  </a:txBody>
                  <a:tcPr marL="144454" marR="111119" marT="111119" marB="11111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2993992"/>
                  </a:ext>
                </a:extLst>
              </a:tr>
              <a:tr h="7852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b="1" cap="none" spc="0">
                          <a:solidFill>
                            <a:schemeClr val="tx1"/>
                          </a:solidFill>
                        </a:rPr>
                        <a:t>Quality Controls</a:t>
                      </a:r>
                      <a:endParaRPr lang="en-IN" sz="17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44454" marR="111119" marT="111119" marB="11111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cap="none" spc="0">
                          <a:solidFill>
                            <a:schemeClr val="tx1"/>
                          </a:solidFill>
                        </a:rPr>
                        <a:t>Policy compliance checks, modular IaC patterns, structure validations, and automated environment-specific provisioning.</a:t>
                      </a:r>
                    </a:p>
                  </a:txBody>
                  <a:tcPr marL="144454" marR="111119" marT="111119" marB="11111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8178078"/>
                  </a:ext>
                </a:extLst>
              </a:tr>
              <a:tr h="7852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b="1" cap="none" spc="0">
                          <a:solidFill>
                            <a:schemeClr val="tx1"/>
                          </a:solidFill>
                        </a:rPr>
                        <a:t>Business Benefits</a:t>
                      </a:r>
                      <a:endParaRPr lang="en-IN" sz="17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44454" marR="111119" marT="111119" marB="111119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cap="none" spc="0" dirty="0">
                          <a:solidFill>
                            <a:schemeClr val="tx1"/>
                          </a:solidFill>
                        </a:rPr>
                        <a:t>Version-controlled infrastructure, significantly reduced manual errors, simplified auditing, faster recovery/rollback, and improved operational discipline.</a:t>
                      </a:r>
                    </a:p>
                  </a:txBody>
                  <a:tcPr marL="144454" marR="111119" marT="111119" marB="11111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72287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588247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061E86F-F11C-1889-4BA8-F88F7ACBD4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D5B3306-72C1-C91B-8E2E-E2C922F916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37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CI/CD for SageMaker Pipeline Deployment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DA416E4-6DA1-5AEB-0ED3-0A5E32E31C33}"/>
              </a:ext>
            </a:extLst>
          </p:cNvPr>
          <p:cNvSpPr txBox="1"/>
          <p:nvPr/>
        </p:nvSpPr>
        <p:spPr>
          <a:xfrm>
            <a:off x="8572499" y="390832"/>
            <a:ext cx="3233585" cy="8736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200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Automated Pipeline Deployment Framework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2D5597F-8544-B22B-7204-90019DC2C1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8231437"/>
              </p:ext>
            </p:extLst>
          </p:nvPr>
        </p:nvGraphicFramePr>
        <p:xfrm>
          <a:off x="664080" y="1966293"/>
          <a:ext cx="10863839" cy="44521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3079">
                  <a:extLst>
                    <a:ext uri="{9D8B030D-6E8A-4147-A177-3AD203B41FA5}">
                      <a16:colId xmlns:a16="http://schemas.microsoft.com/office/drawing/2014/main" val="862019380"/>
                    </a:ext>
                  </a:extLst>
                </a:gridCol>
                <a:gridCol w="7600760">
                  <a:extLst>
                    <a:ext uri="{9D8B030D-6E8A-4147-A177-3AD203B41FA5}">
                      <a16:colId xmlns:a16="http://schemas.microsoft.com/office/drawing/2014/main" val="2808217555"/>
                    </a:ext>
                  </a:extLst>
                </a:gridCol>
              </a:tblGrid>
              <a:tr h="4412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Focus Area</a:t>
                      </a:r>
                    </a:p>
                  </a:txBody>
                  <a:tcPr marL="100274" marR="100274" marT="50137" marB="501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Description</a:t>
                      </a:r>
                    </a:p>
                  </a:txBody>
                  <a:tcPr marL="100274" marR="100274" marT="50137" marB="50137" anchor="ctr"/>
                </a:tc>
                <a:extLst>
                  <a:ext uri="{0D108BD9-81ED-4DB2-BD59-A6C34878D82A}">
                    <a16:rowId xmlns:a16="http://schemas.microsoft.com/office/drawing/2014/main" val="1243972505"/>
                  </a:ext>
                </a:extLst>
              </a:tr>
              <a:tr h="7420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/>
                        <a:t>Deployment Methodology</a:t>
                      </a:r>
                      <a:endParaRPr lang="en-IN" sz="2000"/>
                    </a:p>
                  </a:txBody>
                  <a:tcPr marL="100274" marR="100274" marT="50137" marB="501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SageMaker pipelines are deployed exclusively through CI/CD, ensuring standardized, predictable, and repeatable workflows.</a:t>
                      </a:r>
                    </a:p>
                  </a:txBody>
                  <a:tcPr marL="100274" marR="100274" marT="50137" marB="50137" anchor="ctr"/>
                </a:tc>
                <a:extLst>
                  <a:ext uri="{0D108BD9-81ED-4DB2-BD59-A6C34878D82A}">
                    <a16:rowId xmlns:a16="http://schemas.microsoft.com/office/drawing/2014/main" val="3728882036"/>
                  </a:ext>
                </a:extLst>
              </a:tr>
              <a:tr h="7420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/>
                        <a:t>Version Control Scope</a:t>
                      </a:r>
                      <a:endParaRPr lang="en-IN" sz="2000"/>
                    </a:p>
                  </a:txBody>
                  <a:tcPr marL="100274" marR="100274" marT="50137" marB="501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Both infrastructure code and SageMaker pipeline code are maintained in Git for full traceability, auditability, and rollback.</a:t>
                      </a:r>
                    </a:p>
                  </a:txBody>
                  <a:tcPr marL="100274" marR="100274" marT="50137" marB="50137" anchor="ctr"/>
                </a:tc>
                <a:extLst>
                  <a:ext uri="{0D108BD9-81ED-4DB2-BD59-A6C34878D82A}">
                    <a16:rowId xmlns:a16="http://schemas.microsoft.com/office/drawing/2014/main" val="1869328173"/>
                  </a:ext>
                </a:extLst>
              </a:tr>
              <a:tr h="7420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/>
                        <a:t>Quality Safeguards</a:t>
                      </a:r>
                      <a:endParaRPr lang="en-IN" sz="2000"/>
                    </a:p>
                  </a:txBody>
                  <a:tcPr marL="100274" marR="100274" marT="50137" marB="501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Every change undergoes unit testing, integration validation, static analysis, and pipeline definition checks before merging.</a:t>
                      </a:r>
                    </a:p>
                  </a:txBody>
                  <a:tcPr marL="100274" marR="100274" marT="50137" marB="50137" anchor="ctr"/>
                </a:tc>
                <a:extLst>
                  <a:ext uri="{0D108BD9-81ED-4DB2-BD59-A6C34878D82A}">
                    <a16:rowId xmlns:a16="http://schemas.microsoft.com/office/drawing/2014/main" val="2742993992"/>
                  </a:ext>
                </a:extLst>
              </a:tr>
              <a:tr h="7420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/>
                        <a:t>Promotion Strategy</a:t>
                      </a:r>
                      <a:endParaRPr lang="en-IN" sz="2000"/>
                    </a:p>
                  </a:txBody>
                  <a:tcPr marL="100274" marR="100274" marT="50137" marB="501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Dev → UAT → Prod promotions follow an approval-based process, preventing accidental production changes.</a:t>
                      </a:r>
                    </a:p>
                  </a:txBody>
                  <a:tcPr marL="100274" marR="100274" marT="50137" marB="50137" anchor="ctr"/>
                </a:tc>
                <a:extLst>
                  <a:ext uri="{0D108BD9-81ED-4DB2-BD59-A6C34878D82A}">
                    <a16:rowId xmlns:a16="http://schemas.microsoft.com/office/drawing/2014/main" val="708178078"/>
                  </a:ext>
                </a:extLst>
              </a:tr>
              <a:tr h="10428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/>
                        <a:t>Key Advantages</a:t>
                      </a:r>
                      <a:endParaRPr lang="en-IN" sz="2000"/>
                    </a:p>
                  </a:txBody>
                  <a:tcPr marL="100274" marR="100274" marT="50137" marB="501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Higher reliability, faster iterations, consistent deployments, clear audit trails, and reduced risk due to strong governance and automation.</a:t>
                      </a:r>
                    </a:p>
                  </a:txBody>
                  <a:tcPr marL="100274" marR="100274" marT="50137" marB="50137" anchor="ctr"/>
                </a:tc>
                <a:extLst>
                  <a:ext uri="{0D108BD9-81ED-4DB2-BD59-A6C34878D82A}">
                    <a16:rowId xmlns:a16="http://schemas.microsoft.com/office/drawing/2014/main" val="20472287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43250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8C90094-DB7B-4FCE-C4FD-254E1B5BFC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08C9763-9BDA-7DBD-2711-80B99F5508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37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Implementing Logging for SageMaker Pipelines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D211E52-1BFA-A550-846B-FCDC39B68A4A}"/>
              </a:ext>
            </a:extLst>
          </p:cNvPr>
          <p:cNvSpPr txBox="1"/>
          <p:nvPr/>
        </p:nvSpPr>
        <p:spPr>
          <a:xfrm>
            <a:off x="8572499" y="390832"/>
            <a:ext cx="3233585" cy="8736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200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 Centralized Monitoring and Alerting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5A557F5-9FB9-1EAE-6CC3-6A591A1337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2879642"/>
              </p:ext>
            </p:extLst>
          </p:nvPr>
        </p:nvGraphicFramePr>
        <p:xfrm>
          <a:off x="1080774" y="1966293"/>
          <a:ext cx="10030452" cy="44521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9341">
                  <a:extLst>
                    <a:ext uri="{9D8B030D-6E8A-4147-A177-3AD203B41FA5}">
                      <a16:colId xmlns:a16="http://schemas.microsoft.com/office/drawing/2014/main" val="862019380"/>
                    </a:ext>
                  </a:extLst>
                </a:gridCol>
                <a:gridCol w="7831111">
                  <a:extLst>
                    <a:ext uri="{9D8B030D-6E8A-4147-A177-3AD203B41FA5}">
                      <a16:colId xmlns:a16="http://schemas.microsoft.com/office/drawing/2014/main" val="2808217555"/>
                    </a:ext>
                  </a:extLst>
                </a:gridCol>
              </a:tblGrid>
              <a:tr h="4412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Component</a:t>
                      </a:r>
                    </a:p>
                  </a:txBody>
                  <a:tcPr marL="100274" marR="100274" marT="50137" marB="501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Description</a:t>
                      </a:r>
                    </a:p>
                  </a:txBody>
                  <a:tcPr marL="100274" marR="100274" marT="50137" marB="50137" anchor="ctr"/>
                </a:tc>
                <a:extLst>
                  <a:ext uri="{0D108BD9-81ED-4DB2-BD59-A6C34878D82A}">
                    <a16:rowId xmlns:a16="http://schemas.microsoft.com/office/drawing/2014/main" val="1243972505"/>
                  </a:ext>
                </a:extLst>
              </a:tr>
              <a:tr h="7420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/>
                        <a:t>Objective</a:t>
                      </a:r>
                      <a:endParaRPr lang="en-IN" sz="2000"/>
                    </a:p>
                  </a:txBody>
                  <a:tcPr marL="100274" marR="100274" marT="50137" marB="501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Establish centralized monitoring for all SageMaker pipelines across Dev, UAT, and Prod environments.</a:t>
                      </a:r>
                    </a:p>
                  </a:txBody>
                  <a:tcPr marL="100274" marR="100274" marT="50137" marB="50137" anchor="ctr"/>
                </a:tc>
                <a:extLst>
                  <a:ext uri="{0D108BD9-81ED-4DB2-BD59-A6C34878D82A}">
                    <a16:rowId xmlns:a16="http://schemas.microsoft.com/office/drawing/2014/main" val="3728882036"/>
                  </a:ext>
                </a:extLst>
              </a:tr>
              <a:tr h="7420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/>
                        <a:t>Observability Flow</a:t>
                      </a:r>
                      <a:endParaRPr lang="en-IN" sz="2000"/>
                    </a:p>
                  </a:txBody>
                  <a:tcPr marL="100274" marR="100274" marT="50137" marB="501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SageMaker Pipeline → CloudWatch Log Group → Kinesis Data Stream → Cribl → Snowflake (Dashboards + Alerts).</a:t>
                      </a:r>
                    </a:p>
                  </a:txBody>
                  <a:tcPr marL="100274" marR="100274" marT="50137" marB="50137" anchor="ctr"/>
                </a:tc>
                <a:extLst>
                  <a:ext uri="{0D108BD9-81ED-4DB2-BD59-A6C34878D82A}">
                    <a16:rowId xmlns:a16="http://schemas.microsoft.com/office/drawing/2014/main" val="1869328173"/>
                  </a:ext>
                </a:extLst>
              </a:tr>
              <a:tr h="7420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/>
                        <a:t>Operational Value</a:t>
                      </a:r>
                      <a:endParaRPr lang="en-IN" sz="2000"/>
                    </a:p>
                  </a:txBody>
                  <a:tcPr marL="100274" marR="100274" marT="50137" marB="501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Real-time visibility into pipeline execution, faster failure detection, easier troubleshooting, and scalable observability as pipelines grow.</a:t>
                      </a:r>
                    </a:p>
                  </a:txBody>
                  <a:tcPr marL="100274" marR="100274" marT="50137" marB="50137" anchor="ctr"/>
                </a:tc>
                <a:extLst>
                  <a:ext uri="{0D108BD9-81ED-4DB2-BD59-A6C34878D82A}">
                    <a16:rowId xmlns:a16="http://schemas.microsoft.com/office/drawing/2014/main" val="2742993992"/>
                  </a:ext>
                </a:extLst>
              </a:tr>
              <a:tr h="7420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/>
                        <a:t>Enterprise Integration</a:t>
                      </a:r>
                      <a:endParaRPr lang="en-IN" sz="2000"/>
                    </a:p>
                  </a:txBody>
                  <a:tcPr marL="100274" marR="100274" marT="50137" marB="501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Aligns with the enterprise logging strategy, enabling consolidated dashboards and alerting via Snowflake.</a:t>
                      </a:r>
                    </a:p>
                  </a:txBody>
                  <a:tcPr marL="100274" marR="100274" marT="50137" marB="50137" anchor="ctr"/>
                </a:tc>
                <a:extLst>
                  <a:ext uri="{0D108BD9-81ED-4DB2-BD59-A6C34878D82A}">
                    <a16:rowId xmlns:a16="http://schemas.microsoft.com/office/drawing/2014/main" val="708178078"/>
                  </a:ext>
                </a:extLst>
              </a:tr>
              <a:tr h="10428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/>
                        <a:t>Key Benefits</a:t>
                      </a:r>
                      <a:endParaRPr lang="en-IN" sz="2000"/>
                    </a:p>
                  </a:txBody>
                  <a:tcPr marL="100274" marR="100274" marT="50137" marB="501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Improved monitoring efficiency, unified log access across accounts, enhanced troubleshooting capabilities, and readiness for future ML/AI expansion.</a:t>
                      </a:r>
                    </a:p>
                  </a:txBody>
                  <a:tcPr marL="100274" marR="100274" marT="50137" marB="50137" anchor="ctr"/>
                </a:tc>
                <a:extLst>
                  <a:ext uri="{0D108BD9-81ED-4DB2-BD59-A6C34878D82A}">
                    <a16:rowId xmlns:a16="http://schemas.microsoft.com/office/drawing/2014/main" val="20472287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486526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F5BDFB6-F2A7-F7CE-4019-9CB1F26E02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91DC6ABD-215C-4EA8-A483-CEF5B99AB3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9CB37A4-1D61-2371-4B56-2F8E4DD261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9609" y="679731"/>
            <a:ext cx="4171994" cy="373654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/>
            <a:r>
              <a:rPr lang="en-US" sz="4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Summary — Multi-Environment Migration &amp; Operational Enhancements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FB15942-E662-88EA-8583-FF2665CEF310}"/>
              </a:ext>
            </a:extLst>
          </p:cNvPr>
          <p:cNvSpPr txBox="1"/>
          <p:nvPr/>
        </p:nvSpPr>
        <p:spPr>
          <a:xfrm>
            <a:off x="599609" y="4685288"/>
            <a:ext cx="4171994" cy="10357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24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Key Highlights Overview</a:t>
            </a: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3AF6A671-C637-4547-85F4-51B6D18813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416432" y="1"/>
            <a:ext cx="2446384" cy="5777808"/>
            <a:chOff x="329184" y="1"/>
            <a:chExt cx="524256" cy="5777808"/>
          </a:xfrm>
        </p:grpSpPr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C575CF26-3D3C-4C5A-A2B7-00432016EF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329184" y="5777809"/>
              <a:ext cx="521208" cy="0"/>
            </a:xfrm>
            <a:prstGeom prst="line">
              <a:avLst/>
            </a:prstGeom>
            <a:ln w="1524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99413ED5-9ED4-4772-BCE4-2BCAE6B12E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29184" y="1"/>
              <a:ext cx="524256" cy="553211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3" name="Rectangle 42">
            <a:extLst>
              <a:ext uri="{FF2B5EF4-FFF2-40B4-BE49-F238E27FC236}">
                <a16:creationId xmlns:a16="http://schemas.microsoft.com/office/drawing/2014/main" id="{04357C93-F0CB-4A1C-8F77-4E90637898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86598" y="269324"/>
            <a:ext cx="6116779" cy="620877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8AF31BC-D0AB-5CB6-5679-FF1CC4F9E1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5483614"/>
              </p:ext>
            </p:extLst>
          </p:nvPr>
        </p:nvGraphicFramePr>
        <p:xfrm>
          <a:off x="5640572" y="1300791"/>
          <a:ext cx="5608831" cy="41458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6007">
                  <a:extLst>
                    <a:ext uri="{9D8B030D-6E8A-4147-A177-3AD203B41FA5}">
                      <a16:colId xmlns:a16="http://schemas.microsoft.com/office/drawing/2014/main" val="862019380"/>
                    </a:ext>
                  </a:extLst>
                </a:gridCol>
                <a:gridCol w="3962824">
                  <a:extLst>
                    <a:ext uri="{9D8B030D-6E8A-4147-A177-3AD203B41FA5}">
                      <a16:colId xmlns:a16="http://schemas.microsoft.com/office/drawing/2014/main" val="2808217555"/>
                    </a:ext>
                  </a:extLst>
                </a:gridCol>
              </a:tblGrid>
              <a:tr h="3071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Area</a:t>
                      </a:r>
                    </a:p>
                  </a:txBody>
                  <a:tcPr marL="69795" marR="69795" marT="34898" marB="3489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Summary</a:t>
                      </a:r>
                    </a:p>
                  </a:txBody>
                  <a:tcPr marL="69795" marR="69795" marT="34898" marB="34898" anchor="ctr"/>
                </a:tc>
                <a:extLst>
                  <a:ext uri="{0D108BD9-81ED-4DB2-BD59-A6C34878D82A}">
                    <a16:rowId xmlns:a16="http://schemas.microsoft.com/office/drawing/2014/main" val="1243972505"/>
                  </a:ext>
                </a:extLst>
              </a:tr>
              <a:tr h="9352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Environment Modernization</a:t>
                      </a:r>
                      <a:endParaRPr lang="en-IN" sz="1400"/>
                    </a:p>
                  </a:txBody>
                  <a:tcPr marL="69795" marR="69795" marT="34898" marB="3489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Migrating SageMaker pipelines from a shared RSH account to </a:t>
                      </a:r>
                      <a:r>
                        <a:rPr lang="en-US" sz="1400" b="1"/>
                        <a:t>dedicated Dev, UAT, and Prod AWS accounts</a:t>
                      </a:r>
                      <a:r>
                        <a:rPr lang="en-US" sz="1400"/>
                        <a:t>, improving isolation, security, and governance.</a:t>
                      </a:r>
                    </a:p>
                  </a:txBody>
                  <a:tcPr marL="69795" marR="69795" marT="34898" marB="34898" anchor="ctr"/>
                </a:tc>
                <a:extLst>
                  <a:ext uri="{0D108BD9-81ED-4DB2-BD59-A6C34878D82A}">
                    <a16:rowId xmlns:a16="http://schemas.microsoft.com/office/drawing/2014/main" val="3728882036"/>
                  </a:ext>
                </a:extLst>
              </a:tr>
              <a:tr h="5164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Pipeline Migration Progress</a:t>
                      </a:r>
                      <a:endParaRPr lang="en-IN" sz="1400"/>
                    </a:p>
                  </a:txBody>
                  <a:tcPr marL="69795" marR="69795" marT="34898" marB="3489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7 pipelines</a:t>
                      </a:r>
                      <a:r>
                        <a:rPr lang="en-IN" sz="1400"/>
                        <a:t> in scope (3 ML, 1 AI, 3 Analytical). Dev &amp; UAT partially completed; Prod in progress.</a:t>
                      </a:r>
                    </a:p>
                  </a:txBody>
                  <a:tcPr marL="69795" marR="69795" marT="34898" marB="34898" anchor="ctr"/>
                </a:tc>
                <a:extLst>
                  <a:ext uri="{0D108BD9-81ED-4DB2-BD59-A6C34878D82A}">
                    <a16:rowId xmlns:a16="http://schemas.microsoft.com/office/drawing/2014/main" val="1869328173"/>
                  </a:ext>
                </a:extLst>
              </a:tr>
              <a:tr h="7258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Terraform-Based Infrastructure</a:t>
                      </a:r>
                      <a:endParaRPr lang="en-IN" sz="1400"/>
                    </a:p>
                  </a:txBody>
                  <a:tcPr marL="69795" marR="69795" marT="34898" marB="3489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All required AWS resources now provisioned via </a:t>
                      </a:r>
                      <a:r>
                        <a:rPr lang="en-US" sz="1400" b="1"/>
                        <a:t>Terraform CI/CD</a:t>
                      </a:r>
                      <a:r>
                        <a:rPr lang="en-US" sz="1400"/>
                        <a:t>, eliminating manual steps and ensuring consistency across environments.</a:t>
                      </a:r>
                    </a:p>
                  </a:txBody>
                  <a:tcPr marL="69795" marR="69795" marT="34898" marB="34898" anchor="ctr"/>
                </a:tc>
                <a:extLst>
                  <a:ext uri="{0D108BD9-81ED-4DB2-BD59-A6C34878D82A}">
                    <a16:rowId xmlns:a16="http://schemas.microsoft.com/office/drawing/2014/main" val="2742993992"/>
                  </a:ext>
                </a:extLst>
              </a:tr>
              <a:tr h="9352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CI/CD Pipeline Deployment</a:t>
                      </a:r>
                      <a:endParaRPr lang="en-IN" sz="1400"/>
                    </a:p>
                  </a:txBody>
                  <a:tcPr marL="69795" marR="69795" marT="34898" marB="3489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SageMaker pipelines deployed through automated CI/CD with </a:t>
                      </a:r>
                      <a:r>
                        <a:rPr lang="en-US" sz="1400" b="1"/>
                        <a:t>unit tests, integration checks, validation, and approval-based promotions</a:t>
                      </a:r>
                      <a:r>
                        <a:rPr lang="en-US" sz="1400"/>
                        <a:t>.</a:t>
                      </a:r>
                    </a:p>
                  </a:txBody>
                  <a:tcPr marL="69795" marR="69795" marT="34898" marB="34898" anchor="ctr"/>
                </a:tc>
                <a:extLst>
                  <a:ext uri="{0D108BD9-81ED-4DB2-BD59-A6C34878D82A}">
                    <a16:rowId xmlns:a16="http://schemas.microsoft.com/office/drawing/2014/main" val="708178078"/>
                  </a:ext>
                </a:extLst>
              </a:tr>
              <a:tr h="7258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Version Control &amp; Governance</a:t>
                      </a:r>
                      <a:endParaRPr lang="en-IN" sz="1400"/>
                    </a:p>
                  </a:txBody>
                  <a:tcPr marL="69795" marR="69795" marT="34898" marB="3489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Both infra and pipeline code are now </a:t>
                      </a:r>
                      <a:r>
                        <a:rPr lang="en-US" sz="1400" b="1"/>
                        <a:t>fully version-controlled</a:t>
                      </a:r>
                      <a:r>
                        <a:rPr lang="en-US" sz="1400"/>
                        <a:t>, enabling auditing, traceability, and quick rollback.</a:t>
                      </a:r>
                    </a:p>
                  </a:txBody>
                  <a:tcPr marL="69795" marR="69795" marT="34898" marB="34898" anchor="ctr"/>
                </a:tc>
                <a:extLst>
                  <a:ext uri="{0D108BD9-81ED-4DB2-BD59-A6C34878D82A}">
                    <a16:rowId xmlns:a16="http://schemas.microsoft.com/office/drawing/2014/main" val="20472287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318649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2606</TotalTime>
  <Words>618</Words>
  <Application>Microsoft Office PowerPoint</Application>
  <PresentationFormat>Widescreen</PresentationFormat>
  <Paragraphs>72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Multi-Environment Setup &amp; SageMaker Pipeline Logging and Monitoring</vt:lpstr>
      <vt:lpstr>SageMaker Pipeline Multi-Environment Setup</vt:lpstr>
      <vt:lpstr>CI/CD for AWS Infrastructure Provisioning</vt:lpstr>
      <vt:lpstr>CI/CD for SageMaker Pipeline Deployment</vt:lpstr>
      <vt:lpstr>Implementing Logging for SageMaker Pipelines</vt:lpstr>
      <vt:lpstr>Summary — Multi-Environment Migration &amp; Operational Enhancements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Kuldeep Singh1</dc:creator>
  <cp:lastModifiedBy>Kuldeep Singh1</cp:lastModifiedBy>
  <cp:revision>6</cp:revision>
  <dcterms:created xsi:type="dcterms:W3CDTF">2025-12-08T15:47:33Z</dcterms:created>
  <dcterms:modified xsi:type="dcterms:W3CDTF">2025-12-10T11:13:37Z</dcterms:modified>
</cp:coreProperties>
</file>
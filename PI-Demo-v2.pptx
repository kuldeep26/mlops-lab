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1794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54EF3-2973-7C1B-42BD-9462E5901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429F68-20A2-9A71-DEDD-10D6C8A9D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33B28-E006-C813-53D2-14A6FE8C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A4991-9D64-409A-55AD-91EB6C612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29BFF-1008-3701-DA3B-7A8694E3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43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ABF70-45B4-2B5D-B57D-DB70BBBBE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F508B-0EB1-ED27-07C1-CFB1597A8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744D6-D34F-3BD1-5B38-645CF7DC8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01EC2-30A6-4F64-09C0-720269E4D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C3087-E61A-6C14-72C8-CAB88A2C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161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49F54-E474-79AA-1B6A-1302D75AD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D4CD1-5C19-3DB7-C29E-535792749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E006C-8666-B5A4-F1BB-44C7C700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9A70D-CC19-140B-F0F7-8D40CBC27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08A59-63E0-D305-8EFF-9555BF5C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647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BFC6-6807-4F06-8201-F35C2202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731ED-AAD4-3475-7813-F41911FB9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5648D-F99A-C1DB-3224-B12E731B1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DE2A4-A211-AF01-D95B-D8D100C17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C8B8F-6D0F-2B05-E984-A0B31B68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47FCE-3BC5-FEF6-146F-EBDE995DD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90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0CC7-B3D5-D743-2469-000631E7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793F3-D3AB-29E6-8B98-ACB895BE5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D3513-5E9C-FCDC-CA52-2D373F74A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78B0EB-E624-C3E4-19B5-F69E8042D9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F0EF05-0F8B-73C6-94EA-5AE53EF70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6D89F6-1304-46D9-7C56-E4A0E8CB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8B3584-7056-C4F6-D56C-802E564A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42339F-728F-1119-C769-90C46FDF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92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5A0F4-E90D-EE71-01CF-8D35B5438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B095A-85A6-49FF-5D1B-89200B347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311F9-3566-2AC6-A4F2-93CE0F113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8C6AED-2596-845D-958F-E070D580F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639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366C41-AAE5-82A8-92BB-1BD6B8A28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A69DDA-DB73-0098-3525-AE43F53EF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C6245-7EF2-B416-6CDF-CC69AFE49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872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B0CB6-E298-33E8-E1DE-92CBA6D53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66411-3EC9-B347-B78E-719063594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3F094-7C1D-B25B-9CA6-34807EB6D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6016A-F2FA-387B-0CF7-6D0E41946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0D198-667C-E7A3-0E60-FCEB09750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608BB-2CD3-2582-7B79-59D34CE7E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645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56F71-BBD0-6C6C-F25D-B4CD6A35B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7AA935-67EE-9B54-97AB-0109F72F0B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CC10E-8DDC-97FA-FC33-69A573AFB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5DDB8-83C8-E35A-F4BA-6D25524DE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01F03-9A25-CF62-365C-62A25930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70E7B-1D1B-C4D1-22CB-C91C193B6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163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6B8CB-8021-835F-68CF-A25B10D17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C2B776-3AEB-4346-2C7F-38CB6B589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54436-C5A3-C9AF-0350-80BDBAA9C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9AB32-3A27-C3B2-5F32-48AD7D82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1916C-63FD-36B3-6A68-D966066A2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96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3289D6-51EF-F408-2D88-BDCB79B65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DC20E6-B043-2DF9-72F5-17866B1A9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DECD0-8195-6529-3E10-1DAE5C3AE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B531E-9A39-86B5-8D45-A3D1C886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67AF4-96FE-F36C-830D-B9AFA201B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791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4AA824-4F26-A7A0-F145-4C4FF8C06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2C59D-8604-3582-31AF-DCA48DD2C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7F561-833A-D9FF-9CC5-779659C59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BD2B2-18D2-09EA-E40B-FF695D853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4019B-4F22-481F-B921-B35172B7EF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665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71801-1154-6517-6932-A9CFE892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FB6D5-D4C8-D53A-69D4-BE6FCFB91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IN"/>
              <a:t>Key Focus Area</a:t>
            </a:r>
            <a:endParaRPr lang="en-US" kern="1200">
              <a:latin typeface="+mj-lt"/>
              <a:ea typeface="+mj-ea"/>
              <a:cs typeface="+mj-cs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8B4298-5260-7544-0D7F-1802A0821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792985"/>
              </p:ext>
            </p:extLst>
          </p:nvPr>
        </p:nvGraphicFramePr>
        <p:xfrm>
          <a:off x="5640572" y="620286"/>
          <a:ext cx="5608831" cy="550685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798662">
                  <a:extLst>
                    <a:ext uri="{9D8B030D-6E8A-4147-A177-3AD203B41FA5}">
                      <a16:colId xmlns:a16="http://schemas.microsoft.com/office/drawing/2014/main" val="862019380"/>
                    </a:ext>
                  </a:extLst>
                </a:gridCol>
                <a:gridCol w="3810169">
                  <a:extLst>
                    <a:ext uri="{9D8B030D-6E8A-4147-A177-3AD203B41FA5}">
                      <a16:colId xmlns:a16="http://schemas.microsoft.com/office/drawing/2014/main" val="2808217555"/>
                    </a:ext>
                  </a:extLst>
                </a:gridCol>
              </a:tblGrid>
              <a:tr h="370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Area</a:t>
                      </a:r>
                    </a:p>
                  </a:txBody>
                  <a:tcPr marL="84203" marR="84203" marT="42101" marB="421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What I Will Cover</a:t>
                      </a:r>
                    </a:p>
                  </a:txBody>
                  <a:tcPr marL="84203" marR="84203" marT="42101" marB="42101" anchor="ctr"/>
                </a:tc>
                <a:extLst>
                  <a:ext uri="{0D108BD9-81ED-4DB2-BD59-A6C34878D82A}">
                    <a16:rowId xmlns:a16="http://schemas.microsoft.com/office/drawing/2014/main" val="1243972505"/>
                  </a:ext>
                </a:extLst>
              </a:tr>
              <a:tr h="1128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Multi-Environment Data Science Platform</a:t>
                      </a:r>
                      <a:endParaRPr lang="en-US" sz="1700" dirty="0"/>
                    </a:p>
                  </a:txBody>
                  <a:tcPr marL="84203" marR="84203" marT="42101" marB="421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Moving from a shared RSH setup to a structured Dev–UAT–Prod dedicated AWS accounts for better security, governance, and scalability</a:t>
                      </a:r>
                    </a:p>
                  </a:txBody>
                  <a:tcPr marL="84203" marR="84203" marT="42101" marB="42101" anchor="ctr"/>
                </a:tc>
                <a:extLst>
                  <a:ext uri="{0D108BD9-81ED-4DB2-BD59-A6C34878D82A}">
                    <a16:rowId xmlns:a16="http://schemas.microsoft.com/office/drawing/2014/main" val="283824031"/>
                  </a:ext>
                </a:extLst>
              </a:tr>
              <a:tr h="1128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CI/CD Automation for Infra &amp; Pipelines</a:t>
                      </a:r>
                      <a:endParaRPr lang="en-IN" sz="1700"/>
                    </a:p>
                  </a:txBody>
                  <a:tcPr marL="84203" marR="84203" marT="42101" marB="421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Automated deployments using Terraform &amp; Git workflows; faster releases with validation checks (unit, integration, linting)</a:t>
                      </a:r>
                    </a:p>
                  </a:txBody>
                  <a:tcPr marL="84203" marR="84203" marT="42101" marB="42101" anchor="ctr"/>
                </a:tc>
                <a:extLst>
                  <a:ext uri="{0D108BD9-81ED-4DB2-BD59-A6C34878D82A}">
                    <a16:rowId xmlns:a16="http://schemas.microsoft.com/office/drawing/2014/main" val="3728882036"/>
                  </a:ext>
                </a:extLst>
              </a:tr>
              <a:tr h="1128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Efficient DS Release &amp; Pipeline Onboarding</a:t>
                      </a:r>
                      <a:endParaRPr lang="en-US" sz="1700"/>
                    </a:p>
                  </a:txBody>
                  <a:tcPr marL="84203" marR="84203" marT="42101" marB="421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Faster onboarding, safer promotions across environments, and simplified rollback with full version control</a:t>
                      </a:r>
                    </a:p>
                  </a:txBody>
                  <a:tcPr marL="84203" marR="84203" marT="42101" marB="42101" anchor="ctr"/>
                </a:tc>
                <a:extLst>
                  <a:ext uri="{0D108BD9-81ED-4DB2-BD59-A6C34878D82A}">
                    <a16:rowId xmlns:a16="http://schemas.microsoft.com/office/drawing/2014/main" val="1869328173"/>
                  </a:ext>
                </a:extLst>
              </a:tr>
              <a:tr h="875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Pipeline Portfolio Status</a:t>
                      </a:r>
                      <a:endParaRPr lang="en-IN" sz="1700"/>
                    </a:p>
                  </a:txBody>
                  <a:tcPr marL="84203" marR="84203" marT="42101" marB="421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7 pipelines (3 ML, 1 AI, 3 Analytical): Dev/UAT partially completed, Prod ongoing</a:t>
                      </a:r>
                    </a:p>
                  </a:txBody>
                  <a:tcPr marL="84203" marR="84203" marT="42101" marB="42101" anchor="ctr"/>
                </a:tc>
                <a:extLst>
                  <a:ext uri="{0D108BD9-81ED-4DB2-BD59-A6C34878D82A}">
                    <a16:rowId xmlns:a16="http://schemas.microsoft.com/office/drawing/2014/main" val="708178078"/>
                  </a:ext>
                </a:extLst>
              </a:tr>
              <a:tr h="875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Centralized Monitoring &amp; Logging</a:t>
                      </a:r>
                      <a:endParaRPr lang="en-IN" sz="1700"/>
                    </a:p>
                  </a:txBody>
                  <a:tcPr marL="84203" marR="84203" marT="42101" marB="421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Implementing unified logging so Data Scientists can monitor pipeline health &amp; alerts without UAT/Prod access</a:t>
                      </a:r>
                    </a:p>
                  </a:txBody>
                  <a:tcPr marL="84203" marR="84203" marT="42101" marB="42101" anchor="ctr"/>
                </a:tc>
                <a:extLst>
                  <a:ext uri="{0D108BD9-81ED-4DB2-BD59-A6C34878D82A}">
                    <a16:rowId xmlns:a16="http://schemas.microsoft.com/office/drawing/2014/main" val="2047228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824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1E86F-F11C-1889-4BA8-F88F7ACBD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3" name="Freeform: Shape 5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5B3306-72C1-C91B-8E2E-E2C922F916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4567567" cy="320413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Multi-ENV Data Science Platform(Dedicated Dev/UAT/Prod)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CEE8EA-C51E-C170-6231-4AFD08E8C32A}"/>
              </a:ext>
            </a:extLst>
          </p:cNvPr>
          <p:cNvSpPr txBox="1"/>
          <p:nvPr/>
        </p:nvSpPr>
        <p:spPr>
          <a:xfrm>
            <a:off x="477981" y="4714837"/>
            <a:ext cx="3933306" cy="1972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Outcome: 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D5597F-8544-B22B-7204-90019DC2C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887628"/>
              </p:ext>
            </p:extLst>
          </p:nvPr>
        </p:nvGraphicFramePr>
        <p:xfrm>
          <a:off x="5371105" y="329626"/>
          <a:ext cx="6408836" cy="6315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4206">
                  <a:extLst>
                    <a:ext uri="{9D8B030D-6E8A-4147-A177-3AD203B41FA5}">
                      <a16:colId xmlns:a16="http://schemas.microsoft.com/office/drawing/2014/main" val="862019380"/>
                    </a:ext>
                  </a:extLst>
                </a:gridCol>
                <a:gridCol w="3964630">
                  <a:extLst>
                    <a:ext uri="{9D8B030D-6E8A-4147-A177-3AD203B41FA5}">
                      <a16:colId xmlns:a16="http://schemas.microsoft.com/office/drawing/2014/main" val="2808217555"/>
                    </a:ext>
                  </a:extLst>
                </a:gridCol>
              </a:tblGrid>
              <a:tr h="712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Earlier (Shared RSH Setup)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Now (Structured Environment Architecture)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3972505"/>
                  </a:ext>
                </a:extLst>
              </a:tr>
              <a:tr h="712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Dev/UAT/Prod in the same account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Dedicated AWS accounts for each stage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2509145"/>
                  </a:ext>
                </a:extLst>
              </a:tr>
              <a:tr h="1001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 operational &amp; governance risks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Strong isolation, auditability &amp; controlled releases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8882036"/>
                  </a:ext>
                </a:extLst>
              </a:tr>
              <a:tr h="1001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Manual, inconsistent deployments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Fully automated CI/CD (Terraform + Git)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328173"/>
                  </a:ext>
                </a:extLst>
              </a:tr>
              <a:tr h="712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Minimal validation before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CI checks → linting, unit tests, integration tests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2993992"/>
                  </a:ext>
                </a:extLst>
              </a:tr>
              <a:tr h="712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Slow onboarding &amp; slow promotions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Faster rollout, safe promotion to UAT/Prod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178078"/>
                  </a:ext>
                </a:extLst>
              </a:tr>
              <a:tr h="1350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Pipeline Portfolio and Progress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Total 7 Pipelines(3ML, 1AI, 3Analytical use-cases)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Dev and UAT onboarding partially completed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Prod onboarding In-Progress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6009953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0A4C0A06-2C29-0C8A-C3B1-2BC044F11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84" y="5095072"/>
            <a:ext cx="363535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and safer Data Science releases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rollback and audit trail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foundation for pipeline growth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Predictable Dev → UAT → Prod promotion</a:t>
            </a:r>
          </a:p>
        </p:txBody>
      </p:sp>
    </p:spTree>
    <p:extLst>
      <p:ext uri="{BB962C8B-B14F-4D97-AF65-F5344CB8AC3E}">
        <p14:creationId xmlns:p14="http://schemas.microsoft.com/office/powerpoint/2010/main" val="614325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C90094-DB7B-4FCE-C4FD-254E1B5BF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4" name="Freeform: Shape 53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6" name="Freeform: Shape 55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8C9763-9BDA-7DBD-2711-80B99F550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/>
              <a:t>Centralized Logging for SageMaker Pipelines</a:t>
            </a:r>
            <a:endParaRPr lang="en-US" sz="4800" kern="1200">
              <a:latin typeface="+mj-lt"/>
              <a:ea typeface="+mj-ea"/>
              <a:cs typeface="+mj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A557F5-9FB9-1EAE-6CC3-6A591A1337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574610"/>
              </p:ext>
            </p:extLst>
          </p:nvPr>
        </p:nvGraphicFramePr>
        <p:xfrm>
          <a:off x="5414356" y="808329"/>
          <a:ext cx="6408836" cy="5090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389">
                  <a:extLst>
                    <a:ext uri="{9D8B030D-6E8A-4147-A177-3AD203B41FA5}">
                      <a16:colId xmlns:a16="http://schemas.microsoft.com/office/drawing/2014/main" val="862019380"/>
                    </a:ext>
                  </a:extLst>
                </a:gridCol>
                <a:gridCol w="2009389">
                  <a:extLst>
                    <a:ext uri="{9D8B030D-6E8A-4147-A177-3AD203B41FA5}">
                      <a16:colId xmlns:a16="http://schemas.microsoft.com/office/drawing/2014/main" val="530846737"/>
                    </a:ext>
                  </a:extLst>
                </a:gridCol>
                <a:gridCol w="2390058">
                  <a:extLst>
                    <a:ext uri="{9D8B030D-6E8A-4147-A177-3AD203B41FA5}">
                      <a16:colId xmlns:a16="http://schemas.microsoft.com/office/drawing/2014/main" val="2499025393"/>
                    </a:ext>
                  </a:extLst>
                </a:gridCol>
              </a:tblGrid>
              <a:tr h="430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Need</a:t>
                      </a:r>
                    </a:p>
                  </a:txBody>
                  <a:tcPr marL="97886" marR="97886" marT="48943" marB="489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Implementation</a:t>
                      </a:r>
                    </a:p>
                  </a:txBody>
                  <a:tcPr marL="97886" marR="97886" marT="48943" marB="489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Outcome</a:t>
                      </a:r>
                    </a:p>
                  </a:txBody>
                  <a:tcPr marL="97886" marR="97886" marT="48943" marB="48943" anchor="ctr"/>
                </a:tc>
                <a:extLst>
                  <a:ext uri="{0D108BD9-81ED-4DB2-BD59-A6C34878D82A}">
                    <a16:rowId xmlns:a16="http://schemas.microsoft.com/office/drawing/2014/main" val="1243972505"/>
                  </a:ext>
                </a:extLst>
              </a:tr>
              <a:tr h="1311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Data Scientists cannot access UAT/Prod</a:t>
                      </a:r>
                    </a:p>
                  </a:txBody>
                  <a:tcPr marL="97886" marR="97886" marT="48943" marB="489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Pipeline logs sent to central monitoring platform</a:t>
                      </a:r>
                    </a:p>
                  </a:txBody>
                  <a:tcPr marL="97886" marR="97886" marT="48943" marB="489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No need for higher-env access to debug</a:t>
                      </a:r>
                    </a:p>
                  </a:txBody>
                  <a:tcPr marL="97886" marR="97886" marT="48943" marB="48943" anchor="ctr"/>
                </a:tc>
                <a:extLst>
                  <a:ext uri="{0D108BD9-81ED-4DB2-BD59-A6C34878D82A}">
                    <a16:rowId xmlns:a16="http://schemas.microsoft.com/office/drawing/2014/main" val="1035506392"/>
                  </a:ext>
                </a:extLst>
              </a:tr>
              <a:tr h="1311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No unified health visibility</a:t>
                      </a:r>
                    </a:p>
                  </a:txBody>
                  <a:tcPr marL="97886" marR="97886" marT="48943" marB="489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SageMaker → CloudWatch → Kinesis → </a:t>
                      </a:r>
                      <a:r>
                        <a:rPr lang="en-IN" sz="1900" dirty="0" err="1"/>
                        <a:t>Cribl</a:t>
                      </a:r>
                      <a:r>
                        <a:rPr lang="en-IN" sz="1900" dirty="0"/>
                        <a:t> → Snowflake</a:t>
                      </a:r>
                    </a:p>
                  </a:txBody>
                  <a:tcPr marL="97886" marR="97886" marT="48943" marB="489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Near-real-time pipeline visibility</a:t>
                      </a:r>
                    </a:p>
                  </a:txBody>
                  <a:tcPr marL="97886" marR="97886" marT="48943" marB="48943" anchor="ctr"/>
                </a:tc>
                <a:extLst>
                  <a:ext uri="{0D108BD9-81ED-4DB2-BD59-A6C34878D82A}">
                    <a16:rowId xmlns:a16="http://schemas.microsoft.com/office/drawing/2014/main" val="794999838"/>
                  </a:ext>
                </a:extLst>
              </a:tr>
              <a:tr h="1018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Slow troubleshooting</a:t>
                      </a:r>
                    </a:p>
                  </a:txBody>
                  <a:tcPr marL="97886" marR="97886" marT="48943" marB="489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Alerts for failures &amp; anomalies</a:t>
                      </a:r>
                    </a:p>
                  </a:txBody>
                  <a:tcPr marL="97886" marR="97886" marT="48943" marB="489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Faster resolution &amp; easier scaling</a:t>
                      </a:r>
                    </a:p>
                  </a:txBody>
                  <a:tcPr marL="97886" marR="97886" marT="48943" marB="48943" anchor="ctr"/>
                </a:tc>
                <a:extLst>
                  <a:ext uri="{0D108BD9-81ED-4DB2-BD59-A6C34878D82A}">
                    <a16:rowId xmlns:a16="http://schemas.microsoft.com/office/drawing/2014/main" val="3728882036"/>
                  </a:ext>
                </a:extLst>
              </a:tr>
              <a:tr h="1018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Hard to monitor multiple pipelines</a:t>
                      </a:r>
                    </a:p>
                  </a:txBody>
                  <a:tcPr marL="97886" marR="97886" marT="48943" marB="489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Standardized logging pattern</a:t>
                      </a:r>
                    </a:p>
                  </a:txBody>
                  <a:tcPr marL="97886" marR="97886" marT="48943" marB="489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Consistent health checks across all environments</a:t>
                      </a:r>
                    </a:p>
                  </a:txBody>
                  <a:tcPr marL="97886" marR="97886" marT="48943" marB="48943" anchor="ctr"/>
                </a:tc>
                <a:extLst>
                  <a:ext uri="{0D108BD9-81ED-4DB2-BD59-A6C34878D82A}">
                    <a16:rowId xmlns:a16="http://schemas.microsoft.com/office/drawing/2014/main" val="1869328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8652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5BDFB6-F2A7-F7CE-4019-9CB1F26E0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B37A4-1D61-2371-4B56-2F8E4DD26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2C917C9-1E41-4DC6-B8D1-4D365244A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028" y="3017522"/>
            <a:ext cx="9941319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The platform is now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more secure, scalable, and governed</a:t>
            </a:r>
            <a:endParaRPr kumimoji="0" lang="en-US" altLang="en-US" sz="24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CI/CD enables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faster, safer, and fully traceable deployments</a:t>
            </a:r>
            <a:endParaRPr kumimoji="0" lang="en-US" altLang="en-US" sz="24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Pipeline onboarding is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accelerated and easier to manage</a:t>
            </a:r>
            <a:endParaRPr kumimoji="0" lang="en-US" altLang="en-US" sz="24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Centralized logging ensures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end-to-end visibility and quicker troubleshooting</a:t>
            </a:r>
            <a:endParaRPr kumimoji="0" lang="en-US" altLang="en-US" sz="24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Foundation built for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future scaling of Data Science workloads</a:t>
            </a:r>
            <a:endParaRPr kumimoji="0" lang="en-US" altLang="en-US" sz="2400" b="0" i="0" u="none" strike="noStrike" cap="none" normalizeH="0" baseline="0">
              <a:ln>
                <a:noFill/>
              </a:ln>
              <a:effectLst/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864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3851</TotalTime>
  <Words>392</Words>
  <Application>Microsoft Office PowerPoint</Application>
  <PresentationFormat>Widescreen</PresentationFormat>
  <Paragraphs>57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Key Focus Area</vt:lpstr>
      <vt:lpstr>Multi-ENV Data Science Platform(Dedicated Dev/UAT/Prod)</vt:lpstr>
      <vt:lpstr>Centralized Logging for SageMaker Pipelines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Kuldeep Singh1</dc:creator>
  <cp:lastModifiedBy>Kuldeep Singh1</cp:lastModifiedBy>
  <cp:revision>10</cp:revision>
  <dcterms:created xsi:type="dcterms:W3CDTF">2025-12-08T15:47:33Z</dcterms:created>
  <dcterms:modified xsi:type="dcterms:W3CDTF">2025-12-11T07:59:03Z</dcterms:modified>
</cp:coreProperties>
</file>